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7" r:id="rId2"/>
    <p:sldId id="258" r:id="rId3"/>
    <p:sldId id="259" r:id="rId4"/>
    <p:sldId id="260" r:id="rId5"/>
    <p:sldId id="262" r:id="rId6"/>
    <p:sldId id="261" r:id="rId7"/>
    <p:sldId id="263" r:id="rId8"/>
    <p:sldId id="264" r:id="rId9"/>
    <p:sldId id="265" r:id="rId10"/>
    <p:sldId id="266" r:id="rId11"/>
    <p:sldId id="273" r:id="rId12"/>
    <p:sldId id="267" r:id="rId13"/>
    <p:sldId id="268" r:id="rId14"/>
    <p:sldId id="274" r:id="rId15"/>
    <p:sldId id="275" r:id="rId16"/>
    <p:sldId id="269" r:id="rId17"/>
    <p:sldId id="270" r:id="rId18"/>
    <p:sldId id="272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77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4237A0-05C4-49A0-98A7-59B76987CDE7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EECD4B-52E3-4443-A237-C347837315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17558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EECD4B-52E3-4443-A237-C34783731535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37040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EECD4B-52E3-4443-A237-C34783731535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48303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C69189-F08F-6247-3602-1BF2F6A6C6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3AD3C7-4E7F-FCA4-FADA-7F97F87034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276E2A-9588-24F4-71C4-C6159D925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6C59F-7FB6-4A9B-8F2E-491E461A9FD7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6502FA-3A09-3FDB-3F3E-190138364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D94DE1-668C-06D4-A825-CEA7AC6D0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7C259-5DC2-4973-B169-034DB6C445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255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A7202-A723-C353-FE11-016E9A56D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54360E-66D0-6CA4-E5C9-5A6BAA3234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F3502A-D2A8-D925-E895-31E050C3E8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6C59F-7FB6-4A9B-8F2E-491E461A9FD7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872A95-C60B-54FE-3CAE-401DEB9B7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02F0E4-40F7-8F4A-7615-62BE209FF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7C259-5DC2-4973-B169-034DB6C445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75583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0073C-9269-4F32-8315-4DF3D335E3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BAE981-C27F-81E8-3C2A-BC1211D0A7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3A9F74-FAF4-5935-8783-2683815BC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6C59F-7FB6-4A9B-8F2E-491E461A9FD7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22AF49-148F-25BD-949B-D7EEDC4E4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BA285B-3AF2-2BA6-7F68-A2A838ADB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7C259-5DC2-4973-B169-034DB6C445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95218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69991-CABA-4F73-0905-7116B5591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3C64A8-2AE5-124D-E1FB-D438AFE794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152A71-52EE-A3FA-2A58-F7237EE017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8B2CA6-E88C-1591-A741-453AE030D6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6C59F-7FB6-4A9B-8F2E-491E461A9FD7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6E0110-C5A8-3DF5-9020-15A98197E2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DB71AB-B893-0A2E-9069-9581ECFC1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7C259-5DC2-4973-B169-034DB6C445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22493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81EB5-2DF2-3BB6-29D4-93E4EBEEA3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4884E1-ABCB-3471-69B1-1A9209840E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15B165-BDB0-2ADC-A418-402320BA16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662E17-9548-E130-BE3D-7E619B2400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0B6DA1-5345-9BCD-B7EC-78251FFDEF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17E1AE4-CD74-2D89-E1F8-7F40CA6728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6C59F-7FB6-4A9B-8F2E-491E461A9FD7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88DDEA-7A1F-52D2-93B7-8CD7431B8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48F4B37-88BF-40D4-BF93-B3DBCC1A5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7C259-5DC2-4973-B169-034DB6C445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87994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70502-69E3-9907-51B5-462B9912A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457BEB-E8CF-06A9-1027-BDAD3131F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6C59F-7FB6-4A9B-8F2E-491E461A9FD7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91925E-863A-DE07-1A4E-7BDA00456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41521F-E8D4-2692-91C5-B53A6BC3E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7C259-5DC2-4973-B169-034DB6C445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76195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0A3AF28-C348-D72A-2C66-9A0FFC9312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6C59F-7FB6-4A9B-8F2E-491E461A9FD7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1D7359-D411-46F3-C5E9-E336A436B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15B03D-F7E3-71ED-6E39-501DBF7EB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7C259-5DC2-4973-B169-034DB6C445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70945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40886-CDEE-6D3D-0987-DC774F985C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AF81FA-2DDA-EB79-8E92-CFACBAEA9D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E36E35-D0F2-C4D4-2C02-5F62513814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E6A032-0666-EB36-C459-C3716091AC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6C59F-7FB6-4A9B-8F2E-491E461A9FD7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1DCB51-7DBB-7B85-256C-DF155C154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EA2DF7-32E3-F3C6-49AC-DCC4A877E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7C259-5DC2-4973-B169-034DB6C445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5933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583DCB-C111-41D0-86E9-0209C8EEFF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B86716-7FD6-A167-8791-D8D50E35EB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053875-D274-518C-795D-56C46B2AD3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2A671D-EBA3-AE30-806A-E40648B53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6C59F-7FB6-4A9B-8F2E-491E461A9FD7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133A0E-2F1C-36D1-7638-E5A2631802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241D53-F1F4-D23C-47CA-6F78D1843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7C259-5DC2-4973-B169-034DB6C445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06178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17FE9-E666-0321-27F6-D6788B0B1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7DEF83-1922-D2D9-A485-2C96882A1C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51A673-7715-88C6-5E01-5FF4849258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6C59F-7FB6-4A9B-8F2E-491E461A9FD7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16A43F-616D-938E-686E-96A707177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CDDA43-8B2F-4621-60ED-A7D213C56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7C259-5DC2-4973-B169-034DB6C445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86020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3F0A2CF-BA4F-74AF-AC3F-98C05B46F4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6F09C2-A9FB-ABD0-6026-7886BF8BF6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274991-91E1-F9B9-E0C1-10EBD37C0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6C59F-7FB6-4A9B-8F2E-491E461A9FD7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E74981-FCBF-483E-D9C4-89DBB6F37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85288B-D23A-FBDC-F92A-C3B082D3E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7C259-5DC2-4973-B169-034DB6C445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10241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73B247E-A80A-2991-0119-C7B9DDB16C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37C9BE-B302-69A3-0B16-4263240459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7E88D3-9587-36FE-6B75-79E6B51190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96C59F-7FB6-4A9B-8F2E-491E461A9FD7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7C983A-7055-EF18-5970-87DDEACCF6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B11910-0107-897A-787C-519D7BBAF4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47C259-5DC2-4973-B169-034DB6C445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98421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svg"/><Relationship Id="rId7" Type="http://schemas.openxmlformats.org/officeDocument/2006/relationships/image" Target="../media/image30.sv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11" Type="http://schemas.openxmlformats.org/officeDocument/2006/relationships/image" Target="../media/image34.svg"/><Relationship Id="rId5" Type="http://schemas.openxmlformats.org/officeDocument/2006/relationships/image" Target="../media/image28.svg"/><Relationship Id="rId10" Type="http://schemas.openxmlformats.org/officeDocument/2006/relationships/image" Target="../media/image33.png"/><Relationship Id="rId4" Type="http://schemas.openxmlformats.org/officeDocument/2006/relationships/image" Target="../media/image27.png"/><Relationship Id="rId9" Type="http://schemas.openxmlformats.org/officeDocument/2006/relationships/image" Target="../media/image32.sv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A4573365-311E-1193-F518-A144182005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4572000" cy="68580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182F9A01-1269-4D89-53F3-18A26C87CCAF}"/>
              </a:ext>
            </a:extLst>
          </p:cNvPr>
          <p:cNvSpPr/>
          <p:nvPr/>
        </p:nvSpPr>
        <p:spPr>
          <a:xfrm>
            <a:off x="5035592" y="1400414"/>
            <a:ext cx="6113066" cy="2028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E-commerce Business Analysis using SQL &amp; Python</a:t>
            </a:r>
            <a:endParaRPr lang="en-US" sz="445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71F5542A-187C-F222-0ABA-31053DA94524}"/>
              </a:ext>
            </a:extLst>
          </p:cNvPr>
          <p:cNvSpPr/>
          <p:nvPr/>
        </p:nvSpPr>
        <p:spPr>
          <a:xfrm>
            <a:off x="5035592" y="3866913"/>
            <a:ext cx="6584908" cy="387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End-to-End Data Preparation, Analytics &amp; Business Insights</a:t>
            </a:r>
            <a:endParaRPr lang="en-US" sz="175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FF85ACCF-BB61-70CC-C19C-1FD0FC9C8D6D}"/>
              </a:ext>
            </a:extLst>
          </p:cNvPr>
          <p:cNvSpPr/>
          <p:nvPr/>
        </p:nvSpPr>
        <p:spPr>
          <a:xfrm>
            <a:off x="5035592" y="4484966"/>
            <a:ext cx="1390608" cy="387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Nivas Kumar</a:t>
            </a:r>
            <a:endParaRPr lang="en-US" sz="1750" dirty="0"/>
          </a:p>
        </p:txBody>
      </p:sp>
    </p:spTree>
    <p:extLst>
      <p:ext uri="{BB962C8B-B14F-4D97-AF65-F5344CB8AC3E}">
        <p14:creationId xmlns:p14="http://schemas.microsoft.com/office/powerpoint/2010/main" val="29992188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2CE1A8C-C579-C48A-2BC9-1053D60308BA}"/>
              </a:ext>
            </a:extLst>
          </p:cNvPr>
          <p:cNvSpPr/>
          <p:nvPr/>
        </p:nvSpPr>
        <p:spPr>
          <a:xfrm>
            <a:off x="476290" y="450017"/>
            <a:ext cx="6737390" cy="673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Presentation Overview</a:t>
            </a:r>
            <a:endParaRPr lang="en-US" sz="4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F57F5FF-6DBD-8D63-44D1-A52C78BD6B10}"/>
              </a:ext>
            </a:extLst>
          </p:cNvPr>
          <p:cNvSpPr/>
          <p:nvPr/>
        </p:nvSpPr>
        <p:spPr>
          <a:xfrm>
            <a:off x="476290" y="1291471"/>
            <a:ext cx="215384" cy="269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151617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01</a:t>
            </a:r>
            <a:endParaRPr lang="en-US" sz="165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13032402-C89A-8892-58CA-9A02CBE033AB}"/>
              </a:ext>
            </a:extLst>
          </p:cNvPr>
          <p:cNvSpPr/>
          <p:nvPr/>
        </p:nvSpPr>
        <p:spPr>
          <a:xfrm>
            <a:off x="476290" y="1627107"/>
            <a:ext cx="3333710" cy="45719"/>
          </a:xfrm>
          <a:prstGeom prst="rect">
            <a:avLst/>
          </a:prstGeom>
          <a:solidFill>
            <a:srgbClr val="151617"/>
          </a:solidFill>
          <a:ln/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562D906-E2A5-5517-434A-357266550DA8}"/>
              </a:ext>
            </a:extLst>
          </p:cNvPr>
          <p:cNvSpPr/>
          <p:nvPr/>
        </p:nvSpPr>
        <p:spPr>
          <a:xfrm>
            <a:off x="476290" y="1795701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Project Objective</a:t>
            </a:r>
            <a:endParaRPr lang="en-US" sz="21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C3EF0A5-BEF6-79E0-938A-23A49BE3F811}"/>
              </a:ext>
            </a:extLst>
          </p:cNvPr>
          <p:cNvSpPr/>
          <p:nvPr/>
        </p:nvSpPr>
        <p:spPr>
          <a:xfrm>
            <a:off x="476290" y="2255044"/>
            <a:ext cx="3422610" cy="672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Defining the analytical mission and business goals</a:t>
            </a:r>
            <a:endParaRPr lang="en-US" sz="16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BD7ADC2-2AED-4CF2-D456-D4C568EB06D5}"/>
              </a:ext>
            </a:extLst>
          </p:cNvPr>
          <p:cNvSpPr/>
          <p:nvPr/>
        </p:nvSpPr>
        <p:spPr>
          <a:xfrm>
            <a:off x="4447580" y="1291471"/>
            <a:ext cx="215384" cy="269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151617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02</a:t>
            </a:r>
            <a:endParaRPr lang="en-US" sz="165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D7ED2000-E5CF-AE50-A43A-BD13703B983A}"/>
              </a:ext>
            </a:extLst>
          </p:cNvPr>
          <p:cNvSpPr/>
          <p:nvPr/>
        </p:nvSpPr>
        <p:spPr>
          <a:xfrm>
            <a:off x="4368800" y="1754099"/>
            <a:ext cx="3333710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Questions &amp; Analysis </a:t>
            </a:r>
          </a:p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Scope</a:t>
            </a:r>
            <a:endParaRPr lang="en-US" sz="21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307C37AC-F178-8361-14FD-B9C31DF38502}"/>
              </a:ext>
            </a:extLst>
          </p:cNvPr>
          <p:cNvSpPr/>
          <p:nvPr/>
        </p:nvSpPr>
        <p:spPr>
          <a:xfrm>
            <a:off x="4368800" y="2369344"/>
            <a:ext cx="3483769" cy="8168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Key business questions driving our investigation</a:t>
            </a:r>
            <a:endParaRPr lang="en-US" sz="165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293C151A-623E-2936-7638-3F157A07B6B2}"/>
              </a:ext>
            </a:extLst>
          </p:cNvPr>
          <p:cNvSpPr/>
          <p:nvPr/>
        </p:nvSpPr>
        <p:spPr>
          <a:xfrm>
            <a:off x="8304570" y="1291471"/>
            <a:ext cx="215384" cy="269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151617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03</a:t>
            </a:r>
            <a:endParaRPr lang="en-US" sz="165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59BE368B-2005-9EBA-41DF-7384DFF9034F}"/>
              </a:ext>
            </a:extLst>
          </p:cNvPr>
          <p:cNvSpPr/>
          <p:nvPr/>
        </p:nvSpPr>
        <p:spPr>
          <a:xfrm>
            <a:off x="8272085" y="1770003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Dataset Overview</a:t>
            </a:r>
            <a:endParaRPr lang="en-US" sz="21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6270F465-C2AE-950A-8585-95A1175A00A0}"/>
              </a:ext>
            </a:extLst>
          </p:cNvPr>
          <p:cNvSpPr/>
          <p:nvPr/>
        </p:nvSpPr>
        <p:spPr>
          <a:xfrm>
            <a:off x="8272085" y="2218629"/>
            <a:ext cx="3315533" cy="756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Understanding the data sources and structure</a:t>
            </a:r>
            <a:endParaRPr lang="en-US" sz="165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3B43782C-3689-8547-EB0B-B94252A70B0C}"/>
              </a:ext>
            </a:extLst>
          </p:cNvPr>
          <p:cNvSpPr/>
          <p:nvPr/>
        </p:nvSpPr>
        <p:spPr>
          <a:xfrm>
            <a:off x="426442" y="3102838"/>
            <a:ext cx="173057" cy="269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151617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04</a:t>
            </a:r>
            <a:endParaRPr lang="en-US" sz="165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0DF4C473-F490-9EBE-71C6-34F25126B1F1}"/>
              </a:ext>
            </a:extLst>
          </p:cNvPr>
          <p:cNvSpPr/>
          <p:nvPr/>
        </p:nvSpPr>
        <p:spPr>
          <a:xfrm>
            <a:off x="426442" y="3438473"/>
            <a:ext cx="3383558" cy="45719"/>
          </a:xfrm>
          <a:prstGeom prst="rect">
            <a:avLst/>
          </a:prstGeom>
          <a:solidFill>
            <a:srgbClr val="151617"/>
          </a:solidFill>
          <a:ln/>
        </p:spPr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8B8499FB-53C6-6D7B-A326-1FF3B09134FC}"/>
              </a:ext>
            </a:extLst>
          </p:cNvPr>
          <p:cNvSpPr/>
          <p:nvPr/>
        </p:nvSpPr>
        <p:spPr>
          <a:xfrm>
            <a:off x="426443" y="3746539"/>
            <a:ext cx="2164218" cy="483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Tools &amp; Workflow</a:t>
            </a:r>
            <a:endParaRPr lang="en-US" sz="21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B240EB27-C693-409B-EBD1-BA0571B18641}"/>
              </a:ext>
            </a:extLst>
          </p:cNvPr>
          <p:cNvSpPr/>
          <p:nvPr/>
        </p:nvSpPr>
        <p:spPr>
          <a:xfrm>
            <a:off x="426442" y="4205883"/>
            <a:ext cx="3383558" cy="482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Technical stack and analytical 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approach</a:t>
            </a:r>
            <a:endParaRPr lang="en-US" sz="165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287CF3CC-8161-C23B-399B-0719C912E138}"/>
              </a:ext>
            </a:extLst>
          </p:cNvPr>
          <p:cNvSpPr/>
          <p:nvPr/>
        </p:nvSpPr>
        <p:spPr>
          <a:xfrm>
            <a:off x="4354115" y="3708605"/>
            <a:ext cx="3483769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Data Ingestion Strategy</a:t>
            </a:r>
            <a:endParaRPr lang="en-US" sz="21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B0E6136D-4428-0059-DE6E-938C637E1FBA}"/>
              </a:ext>
            </a:extLst>
          </p:cNvPr>
          <p:cNvSpPr/>
          <p:nvPr/>
        </p:nvSpPr>
        <p:spPr>
          <a:xfrm>
            <a:off x="4354115" y="4167948"/>
            <a:ext cx="4211122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Loading data efficiently at scale</a:t>
            </a:r>
            <a:endParaRPr lang="en-US" sz="165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24D6F5C1-E64F-F829-1855-B881E9C56A58}"/>
              </a:ext>
            </a:extLst>
          </p:cNvPr>
          <p:cNvSpPr/>
          <p:nvPr/>
        </p:nvSpPr>
        <p:spPr>
          <a:xfrm>
            <a:off x="8272085" y="3657056"/>
            <a:ext cx="3315533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SQL &amp; Python Analysis</a:t>
            </a:r>
            <a:endParaRPr lang="en-US" sz="210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77800410-F670-BF06-E6F7-27FA24ED2F19}"/>
              </a:ext>
            </a:extLst>
          </p:cNvPr>
          <p:cNvSpPr/>
          <p:nvPr/>
        </p:nvSpPr>
        <p:spPr>
          <a:xfrm>
            <a:off x="8272085" y="4116399"/>
            <a:ext cx="3315533" cy="746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Executing multi-tiered analytics</a:t>
            </a:r>
            <a:endParaRPr lang="en-US" sz="165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4FC68E6B-C669-3F62-9E9E-0EB323F8FACB}"/>
              </a:ext>
            </a:extLst>
          </p:cNvPr>
          <p:cNvSpPr/>
          <p:nvPr/>
        </p:nvSpPr>
        <p:spPr>
          <a:xfrm>
            <a:off x="476290" y="5010208"/>
            <a:ext cx="215384" cy="269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151617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07</a:t>
            </a:r>
            <a:endParaRPr lang="en-US" sz="1650" dirty="0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BF61B161-502B-370B-76D6-936087BA7559}"/>
              </a:ext>
            </a:extLst>
          </p:cNvPr>
          <p:cNvSpPr/>
          <p:nvPr/>
        </p:nvSpPr>
        <p:spPr>
          <a:xfrm>
            <a:off x="476290" y="5345845"/>
            <a:ext cx="11179353" cy="45719"/>
          </a:xfrm>
          <a:prstGeom prst="rect">
            <a:avLst/>
          </a:prstGeom>
          <a:solidFill>
            <a:srgbClr val="151617"/>
          </a:solidFill>
          <a:ln/>
        </p:spPr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84A7946F-2690-808A-1B7D-3C4DA5D52457}"/>
              </a:ext>
            </a:extLst>
          </p:cNvPr>
          <p:cNvSpPr/>
          <p:nvPr/>
        </p:nvSpPr>
        <p:spPr>
          <a:xfrm>
            <a:off x="476290" y="5580757"/>
            <a:ext cx="3673793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Key Insights &amp; Outcomes</a:t>
            </a:r>
            <a:endParaRPr lang="en-US" sz="2100" dirty="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0A25C438-AE4F-2284-15F2-5FC7F80484B4}"/>
              </a:ext>
            </a:extLst>
          </p:cNvPr>
          <p:cNvSpPr/>
          <p:nvPr/>
        </p:nvSpPr>
        <p:spPr>
          <a:xfrm>
            <a:off x="476290" y="5930601"/>
            <a:ext cx="13042702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Actionable findings and business impact</a:t>
            </a:r>
            <a:endParaRPr lang="en-US" sz="1650" dirty="0"/>
          </a:p>
        </p:txBody>
      </p:sp>
      <p:sp>
        <p:nvSpPr>
          <p:cNvPr id="31" name="Shape 2">
            <a:extLst>
              <a:ext uri="{FF2B5EF4-FFF2-40B4-BE49-F238E27FC236}">
                <a16:creationId xmlns:a16="http://schemas.microsoft.com/office/drawing/2014/main" id="{886C4E5D-8B7B-9A47-245D-504378370C24}"/>
              </a:ext>
            </a:extLst>
          </p:cNvPr>
          <p:cNvSpPr/>
          <p:nvPr/>
        </p:nvSpPr>
        <p:spPr>
          <a:xfrm>
            <a:off x="4368800" y="1627107"/>
            <a:ext cx="3333710" cy="45719"/>
          </a:xfrm>
          <a:prstGeom prst="rect">
            <a:avLst/>
          </a:prstGeom>
          <a:solidFill>
            <a:srgbClr val="151617"/>
          </a:solidFill>
          <a:ln/>
        </p:spPr>
      </p:sp>
      <p:sp>
        <p:nvSpPr>
          <p:cNvPr id="32" name="Shape 2">
            <a:extLst>
              <a:ext uri="{FF2B5EF4-FFF2-40B4-BE49-F238E27FC236}">
                <a16:creationId xmlns:a16="http://schemas.microsoft.com/office/drawing/2014/main" id="{2387C9C1-A787-A51B-B6BD-94E357D14758}"/>
              </a:ext>
            </a:extLst>
          </p:cNvPr>
          <p:cNvSpPr/>
          <p:nvPr/>
        </p:nvSpPr>
        <p:spPr>
          <a:xfrm>
            <a:off x="8229600" y="1627107"/>
            <a:ext cx="3333710" cy="45719"/>
          </a:xfrm>
          <a:prstGeom prst="rect">
            <a:avLst/>
          </a:prstGeom>
          <a:solidFill>
            <a:srgbClr val="151617"/>
          </a:solidFill>
          <a:ln/>
        </p:spPr>
      </p:sp>
      <p:sp>
        <p:nvSpPr>
          <p:cNvPr id="33" name="Text 13">
            <a:extLst>
              <a:ext uri="{FF2B5EF4-FFF2-40B4-BE49-F238E27FC236}">
                <a16:creationId xmlns:a16="http://schemas.microsoft.com/office/drawing/2014/main" id="{ADDD25AF-8684-3A13-5474-7C26D00758E5}"/>
              </a:ext>
            </a:extLst>
          </p:cNvPr>
          <p:cNvSpPr/>
          <p:nvPr/>
        </p:nvSpPr>
        <p:spPr>
          <a:xfrm>
            <a:off x="4368800" y="3102838"/>
            <a:ext cx="173057" cy="269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151617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04</a:t>
            </a:r>
            <a:endParaRPr lang="en-US" sz="1650" dirty="0"/>
          </a:p>
        </p:txBody>
      </p:sp>
      <p:sp>
        <p:nvSpPr>
          <p:cNvPr id="34" name="Shape 14">
            <a:extLst>
              <a:ext uri="{FF2B5EF4-FFF2-40B4-BE49-F238E27FC236}">
                <a16:creationId xmlns:a16="http://schemas.microsoft.com/office/drawing/2014/main" id="{0347EC29-3AC7-8DCB-9C82-0455E77E3F63}"/>
              </a:ext>
            </a:extLst>
          </p:cNvPr>
          <p:cNvSpPr/>
          <p:nvPr/>
        </p:nvSpPr>
        <p:spPr>
          <a:xfrm>
            <a:off x="4368800" y="3438473"/>
            <a:ext cx="3383558" cy="45719"/>
          </a:xfrm>
          <a:prstGeom prst="rect">
            <a:avLst/>
          </a:prstGeom>
          <a:solidFill>
            <a:srgbClr val="151617"/>
          </a:solidFill>
          <a:ln/>
        </p:spPr>
      </p:sp>
      <p:sp>
        <p:nvSpPr>
          <p:cNvPr id="35" name="Text 13">
            <a:extLst>
              <a:ext uri="{FF2B5EF4-FFF2-40B4-BE49-F238E27FC236}">
                <a16:creationId xmlns:a16="http://schemas.microsoft.com/office/drawing/2014/main" id="{83E1F649-E3FE-16CC-C61A-9423627F55D0}"/>
              </a:ext>
            </a:extLst>
          </p:cNvPr>
          <p:cNvSpPr/>
          <p:nvPr/>
        </p:nvSpPr>
        <p:spPr>
          <a:xfrm>
            <a:off x="8272085" y="3077438"/>
            <a:ext cx="173057" cy="269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151617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04</a:t>
            </a:r>
            <a:endParaRPr lang="en-US" sz="1650" dirty="0"/>
          </a:p>
        </p:txBody>
      </p:sp>
      <p:sp>
        <p:nvSpPr>
          <p:cNvPr id="36" name="Shape 14">
            <a:extLst>
              <a:ext uri="{FF2B5EF4-FFF2-40B4-BE49-F238E27FC236}">
                <a16:creationId xmlns:a16="http://schemas.microsoft.com/office/drawing/2014/main" id="{2772685E-AC98-30DA-0A84-7D209FC3F87E}"/>
              </a:ext>
            </a:extLst>
          </p:cNvPr>
          <p:cNvSpPr/>
          <p:nvPr/>
        </p:nvSpPr>
        <p:spPr>
          <a:xfrm>
            <a:off x="8272085" y="3413073"/>
            <a:ext cx="3383558" cy="45719"/>
          </a:xfrm>
          <a:prstGeom prst="rect">
            <a:avLst/>
          </a:prstGeom>
          <a:solidFill>
            <a:srgbClr val="151617"/>
          </a:solidFill>
          <a:ln/>
        </p:spPr>
      </p:sp>
    </p:spTree>
    <p:extLst>
      <p:ext uri="{BB962C8B-B14F-4D97-AF65-F5344CB8AC3E}">
        <p14:creationId xmlns:p14="http://schemas.microsoft.com/office/powerpoint/2010/main" val="40203754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E54CCA29-4640-FAC4-564F-1E964F7636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063" y="276209"/>
            <a:ext cx="6761837" cy="4057027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5187D16C-B7B3-8520-C4A2-A5A30875F70B}"/>
              </a:ext>
            </a:extLst>
          </p:cNvPr>
          <p:cNvSpPr/>
          <p:nvPr/>
        </p:nvSpPr>
        <p:spPr>
          <a:xfrm>
            <a:off x="7895428" y="926330"/>
            <a:ext cx="3473378" cy="771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36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Project Objective</a:t>
            </a:r>
            <a:endParaRPr lang="en-US" sz="365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6E75D066-4372-13C9-0727-27FC347489B3}"/>
              </a:ext>
            </a:extLst>
          </p:cNvPr>
          <p:cNvSpPr/>
          <p:nvPr/>
        </p:nvSpPr>
        <p:spPr>
          <a:xfrm>
            <a:off x="7895428" y="2250305"/>
            <a:ext cx="3473378" cy="720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This project demonstrates end-to-end analytical capabilities by transforming raw e-commerce data into strategic business intelligence.</a:t>
            </a:r>
            <a:endParaRPr lang="en-US" sz="1450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FFBAB1DE-BACF-893A-AD61-FE5CF73DB3A1}"/>
              </a:ext>
            </a:extLst>
          </p:cNvPr>
          <p:cNvSpPr/>
          <p:nvPr/>
        </p:nvSpPr>
        <p:spPr>
          <a:xfrm>
            <a:off x="439063" y="4796035"/>
            <a:ext cx="3450926" cy="1785755"/>
          </a:xfrm>
          <a:prstGeom prst="roundRect">
            <a:avLst>
              <a:gd name="adj" fmla="val 563"/>
            </a:avLst>
          </a:prstGeom>
          <a:solidFill>
            <a:srgbClr val="F8ECE4"/>
          </a:solidFill>
          <a:ln w="22860">
            <a:solidFill>
              <a:srgbClr val="151617"/>
            </a:solidFill>
            <a:prstDash val="solid"/>
          </a:ln>
          <a:effectLst>
            <a:outerShdw dist="1651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83C59815-A552-9EF9-8E62-FB18F5707349}"/>
              </a:ext>
            </a:extLst>
          </p:cNvPr>
          <p:cNvSpPr/>
          <p:nvPr/>
        </p:nvSpPr>
        <p:spPr>
          <a:xfrm>
            <a:off x="648969" y="5005943"/>
            <a:ext cx="1861310" cy="192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Extract Insights</a:t>
            </a:r>
            <a:endParaRPr lang="en-US" sz="18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AFFA9A1D-056C-5981-326F-C8CB888BC9EA}"/>
              </a:ext>
            </a:extLst>
          </p:cNvPr>
          <p:cNvSpPr/>
          <p:nvPr/>
        </p:nvSpPr>
        <p:spPr>
          <a:xfrm>
            <a:off x="648969" y="5390992"/>
            <a:ext cx="3116898" cy="5406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Analyze real-world e-commerce datasets to uncover actionable patterns in sales, customers, and products</a:t>
            </a:r>
            <a:endParaRPr lang="en-US" sz="1450" dirty="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3C3D3967-E88D-5A83-CE6A-92BC3D408401}"/>
              </a:ext>
            </a:extLst>
          </p:cNvPr>
          <p:cNvSpPr/>
          <p:nvPr/>
        </p:nvSpPr>
        <p:spPr>
          <a:xfrm>
            <a:off x="4343083" y="4791470"/>
            <a:ext cx="3450926" cy="1785754"/>
          </a:xfrm>
          <a:prstGeom prst="roundRect">
            <a:avLst>
              <a:gd name="adj" fmla="val 563"/>
            </a:avLst>
          </a:prstGeom>
          <a:solidFill>
            <a:srgbClr val="F8ECE4"/>
          </a:solidFill>
          <a:ln w="22860">
            <a:solidFill>
              <a:srgbClr val="151617"/>
            </a:solidFill>
            <a:prstDash val="solid"/>
          </a:ln>
          <a:effectLst>
            <a:outerShdw dist="1651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0E3CFA01-A7D6-953F-27FE-706841E73091}"/>
              </a:ext>
            </a:extLst>
          </p:cNvPr>
          <p:cNvSpPr/>
          <p:nvPr/>
        </p:nvSpPr>
        <p:spPr>
          <a:xfrm>
            <a:off x="4552990" y="5001377"/>
            <a:ext cx="2043292" cy="192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Multi-Tool Approach</a:t>
            </a:r>
            <a:endParaRPr lang="en-US" sz="18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B9B4B240-547E-9996-91BB-9DF831C947DA}"/>
              </a:ext>
            </a:extLst>
          </p:cNvPr>
          <p:cNvSpPr/>
          <p:nvPr/>
        </p:nvSpPr>
        <p:spPr>
          <a:xfrm>
            <a:off x="4552989" y="5386426"/>
            <a:ext cx="3116993" cy="5406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Leverage SQL for scalable analytics and Python for data preparation and rich visualizations</a:t>
            </a:r>
            <a:endParaRPr lang="en-US" sz="1450" dirty="0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C4F803B7-0562-D542-43F0-8FF35B890053}"/>
              </a:ext>
            </a:extLst>
          </p:cNvPr>
          <p:cNvSpPr/>
          <p:nvPr/>
        </p:nvSpPr>
        <p:spPr>
          <a:xfrm>
            <a:off x="8224651" y="4791470"/>
            <a:ext cx="3473378" cy="1785754"/>
          </a:xfrm>
          <a:prstGeom prst="roundRect">
            <a:avLst>
              <a:gd name="adj" fmla="val 563"/>
            </a:avLst>
          </a:prstGeom>
          <a:solidFill>
            <a:srgbClr val="F8ECE4"/>
          </a:solidFill>
          <a:ln w="22860">
            <a:solidFill>
              <a:srgbClr val="151617"/>
            </a:solidFill>
            <a:prstDash val="solid"/>
          </a:ln>
          <a:effectLst>
            <a:outerShdw dist="1651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29E8A930-311F-62E8-9860-E082390C5A24}"/>
              </a:ext>
            </a:extLst>
          </p:cNvPr>
          <p:cNvSpPr/>
          <p:nvPr/>
        </p:nvSpPr>
        <p:spPr>
          <a:xfrm>
            <a:off x="8457010" y="5001377"/>
            <a:ext cx="1861310" cy="192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Drive Decisions</a:t>
            </a:r>
            <a:endParaRPr lang="en-US" sz="1800" dirty="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AD96B953-CBCF-7D41-1B05-A055E1F72748}"/>
              </a:ext>
            </a:extLst>
          </p:cNvPr>
          <p:cNvSpPr/>
          <p:nvPr/>
        </p:nvSpPr>
        <p:spPr>
          <a:xfrm>
            <a:off x="8457010" y="5386426"/>
            <a:ext cx="3116898" cy="5406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Support data-driven business strategy with clear metrics on performance, behavior, and growth</a:t>
            </a:r>
            <a:endParaRPr lang="en-US" sz="1450" dirty="0"/>
          </a:p>
        </p:txBody>
      </p:sp>
    </p:spTree>
    <p:extLst>
      <p:ext uri="{BB962C8B-B14F-4D97-AF65-F5344CB8AC3E}">
        <p14:creationId xmlns:p14="http://schemas.microsoft.com/office/powerpoint/2010/main" val="29967150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6B68F87-BC36-F0F8-2C59-373741B1F976}"/>
              </a:ext>
            </a:extLst>
          </p:cNvPr>
          <p:cNvSpPr/>
          <p:nvPr/>
        </p:nvSpPr>
        <p:spPr>
          <a:xfrm>
            <a:off x="450890" y="400407"/>
            <a:ext cx="657582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Questions Addressed</a:t>
            </a:r>
            <a:endParaRPr lang="en-US" sz="44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1C3DA96-3A82-246E-7AB1-5117554BDD81}"/>
              </a:ext>
            </a:extLst>
          </p:cNvPr>
          <p:cNvSpPr/>
          <p:nvPr/>
        </p:nvSpPr>
        <p:spPr>
          <a:xfrm>
            <a:off x="450890" y="128212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Our analysis answers critical business questions that shape strategic decisions and operational priorities.</a:t>
            </a:r>
            <a:endParaRPr lang="en-US" sz="14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F93A426-340A-1BD8-BA43-B3A7CE7FB6DD}"/>
              </a:ext>
            </a:extLst>
          </p:cNvPr>
          <p:cNvSpPr/>
          <p:nvPr/>
        </p:nvSpPr>
        <p:spPr>
          <a:xfrm>
            <a:off x="450890" y="2180868"/>
            <a:ext cx="2856071" cy="2539365"/>
          </a:xfrm>
          <a:prstGeom prst="roundRect">
            <a:avLst>
              <a:gd name="adj" fmla="val 296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  <a:effectLst>
            <a:outerShdw dist="2032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9E83EA8-6AC2-53D6-E974-80513E4EA579}"/>
              </a:ext>
            </a:extLst>
          </p:cNvPr>
          <p:cNvSpPr/>
          <p:nvPr/>
        </p:nvSpPr>
        <p:spPr>
          <a:xfrm>
            <a:off x="685324" y="2415302"/>
            <a:ext cx="262163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Revenue Trends</a:t>
            </a:r>
            <a:endParaRPr lang="en-US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BBD090DD-4116-1F12-FCBF-3E39F24CB8F8}"/>
              </a:ext>
            </a:extLst>
          </p:cNvPr>
          <p:cNvSpPr/>
          <p:nvPr/>
        </p:nvSpPr>
        <p:spPr>
          <a:xfrm>
            <a:off x="685324" y="2905720"/>
            <a:ext cx="2621637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How is revenue trending over time? Identifying growth patterns and seasonal fluctuations</a:t>
            </a:r>
            <a:endParaRPr lang="en-US" sz="14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8D79C10F-3458-B2F0-8F13-C35D376DA157}"/>
              </a:ext>
            </a:extLst>
          </p:cNvPr>
          <p:cNvSpPr/>
          <p:nvPr/>
        </p:nvSpPr>
        <p:spPr>
          <a:xfrm>
            <a:off x="3450709" y="2180868"/>
            <a:ext cx="2721491" cy="2539365"/>
          </a:xfrm>
          <a:prstGeom prst="roundRect">
            <a:avLst>
              <a:gd name="adj" fmla="val 296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  <a:effectLst>
            <a:outerShdw dist="2032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BAF3C05-258D-1B89-0E6F-E2BC0BDEA934}"/>
              </a:ext>
            </a:extLst>
          </p:cNvPr>
          <p:cNvSpPr/>
          <p:nvPr/>
        </p:nvSpPr>
        <p:spPr>
          <a:xfrm>
            <a:off x="3685143" y="2415302"/>
            <a:ext cx="262175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Top Contributors</a:t>
            </a:r>
            <a:endParaRPr lang="en-US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52AFF8A5-0367-B40F-9477-45EE9D7C7836}"/>
              </a:ext>
            </a:extLst>
          </p:cNvPr>
          <p:cNvSpPr/>
          <p:nvPr/>
        </p:nvSpPr>
        <p:spPr>
          <a:xfrm>
            <a:off x="3685143" y="2905720"/>
            <a:ext cx="262175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Which customers and sellers generate the most value? Pinpointing high-impact segments</a:t>
            </a:r>
            <a:endParaRPr lang="en-US" sz="14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E1B8A360-CB73-D988-A8C6-85B010C644CE}"/>
              </a:ext>
            </a:extLst>
          </p:cNvPr>
          <p:cNvSpPr/>
          <p:nvPr/>
        </p:nvSpPr>
        <p:spPr>
          <a:xfrm>
            <a:off x="6293247" y="2180868"/>
            <a:ext cx="2721492" cy="2539365"/>
          </a:xfrm>
          <a:prstGeom prst="roundRect">
            <a:avLst>
              <a:gd name="adj" fmla="val 296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  <a:effectLst>
            <a:outerShdw dist="2032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BC71124D-2306-2E2B-6FAC-957C4DF5E063}"/>
              </a:ext>
            </a:extLst>
          </p:cNvPr>
          <p:cNvSpPr/>
          <p:nvPr/>
        </p:nvSpPr>
        <p:spPr>
          <a:xfrm>
            <a:off x="6392982" y="2415302"/>
            <a:ext cx="262175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Product Performance</a:t>
            </a:r>
            <a:endParaRPr lang="en-US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3F2000BB-8BC9-2068-4942-2A796C4DD655}"/>
              </a:ext>
            </a:extLst>
          </p:cNvPr>
          <p:cNvSpPr/>
          <p:nvPr/>
        </p:nvSpPr>
        <p:spPr>
          <a:xfrm>
            <a:off x="6392982" y="3260050"/>
            <a:ext cx="2621756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What products drive volume versus revenue? Understanding the catalog's true performers</a:t>
            </a:r>
            <a:endParaRPr lang="en-US" sz="14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0D5AC475-CB61-C2B5-84F8-B18C63629D62}"/>
              </a:ext>
            </a:extLst>
          </p:cNvPr>
          <p:cNvSpPr/>
          <p:nvPr/>
        </p:nvSpPr>
        <p:spPr>
          <a:xfrm>
            <a:off x="9118521" y="2180868"/>
            <a:ext cx="2621758" cy="2539365"/>
          </a:xfrm>
          <a:prstGeom prst="roundRect">
            <a:avLst>
              <a:gd name="adj" fmla="val 296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  <a:effectLst>
            <a:outerShdw dist="2032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AF37ACF8-7385-6ECA-2E4B-EC6CA3A1DCF0}"/>
              </a:ext>
            </a:extLst>
          </p:cNvPr>
          <p:cNvSpPr/>
          <p:nvPr/>
        </p:nvSpPr>
        <p:spPr>
          <a:xfrm>
            <a:off x="9253220" y="2415302"/>
            <a:ext cx="262175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Pricing Impact</a:t>
            </a:r>
            <a:endParaRPr lang="en-US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D95E37BF-F741-03F3-654C-714AE48F7465}"/>
              </a:ext>
            </a:extLst>
          </p:cNvPr>
          <p:cNvSpPr/>
          <p:nvPr/>
        </p:nvSpPr>
        <p:spPr>
          <a:xfrm>
            <a:off x="9253220" y="2905720"/>
            <a:ext cx="2621756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How does pricing affect customer demand? Analyzing price sensitivity and elasticity</a:t>
            </a:r>
            <a:endParaRPr lang="en-US" sz="14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DD16F615-2334-7C3B-1A9D-24DAC5017517}"/>
              </a:ext>
            </a:extLst>
          </p:cNvPr>
          <p:cNvSpPr/>
          <p:nvPr/>
        </p:nvSpPr>
        <p:spPr>
          <a:xfrm>
            <a:off x="450891" y="5210652"/>
            <a:ext cx="11245810" cy="1246942"/>
          </a:xfrm>
          <a:prstGeom prst="roundRect">
            <a:avLst>
              <a:gd name="adj" fmla="val 692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  <a:effectLst>
            <a:outerShdw dist="2032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E7CB8EE1-8863-2ED6-B632-01C6F78C6D30}"/>
              </a:ext>
            </a:extLst>
          </p:cNvPr>
          <p:cNvSpPr/>
          <p:nvPr/>
        </p:nvSpPr>
        <p:spPr>
          <a:xfrm>
            <a:off x="685324" y="5445085"/>
            <a:ext cx="2444603" cy="334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Business Growth</a:t>
            </a:r>
            <a:endParaRPr lang="en-US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2E290270-9915-F93C-CC0F-790D1D08EF75}"/>
              </a:ext>
            </a:extLst>
          </p:cNvPr>
          <p:cNvSpPr/>
          <p:nvPr/>
        </p:nvSpPr>
        <p:spPr>
          <a:xfrm>
            <a:off x="685325" y="5935504"/>
            <a:ext cx="10841542" cy="34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What is the overall trajectory? Measuring expansion, retention, and long-term health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7341404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B6AE38EF-3C35-91D2-C4BE-1358742E4B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502" y="1655088"/>
            <a:ext cx="6658213" cy="2871192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A2619F2C-6393-A202-2EB1-7538D4B30C5E}"/>
              </a:ext>
            </a:extLst>
          </p:cNvPr>
          <p:cNvSpPr/>
          <p:nvPr/>
        </p:nvSpPr>
        <p:spPr>
          <a:xfrm>
            <a:off x="902513" y="3981794"/>
            <a:ext cx="1510533" cy="188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SQL &amp; Visualization</a:t>
            </a:r>
            <a:endParaRPr lang="en-US" sz="135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16615B42-888B-D5B1-E739-7694C5E30C58}"/>
              </a:ext>
            </a:extLst>
          </p:cNvPr>
          <p:cNvSpPr/>
          <p:nvPr/>
        </p:nvSpPr>
        <p:spPr>
          <a:xfrm>
            <a:off x="902513" y="3317160"/>
            <a:ext cx="1510533" cy="188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MySQL Storage</a:t>
            </a:r>
            <a:endParaRPr lang="en-US" sz="135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2F1596D7-D640-2B01-A501-5BAA53379520}"/>
              </a:ext>
            </a:extLst>
          </p:cNvPr>
          <p:cNvSpPr/>
          <p:nvPr/>
        </p:nvSpPr>
        <p:spPr>
          <a:xfrm>
            <a:off x="902513" y="2659239"/>
            <a:ext cx="1510533" cy="188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Python Cleaning</a:t>
            </a:r>
            <a:endParaRPr lang="en-US" sz="135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92558D2C-C81B-1998-704A-5D41555F1D5D}"/>
              </a:ext>
            </a:extLst>
          </p:cNvPr>
          <p:cNvSpPr/>
          <p:nvPr/>
        </p:nvSpPr>
        <p:spPr>
          <a:xfrm>
            <a:off x="902513" y="1994604"/>
            <a:ext cx="1510533" cy="188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Excel Sources</a:t>
            </a:r>
            <a:endParaRPr lang="en-US" sz="135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CD0A1249-7AE4-75E2-0712-5B0C74E20166}"/>
              </a:ext>
            </a:extLst>
          </p:cNvPr>
          <p:cNvSpPr/>
          <p:nvPr/>
        </p:nvSpPr>
        <p:spPr>
          <a:xfrm>
            <a:off x="625555" y="4724718"/>
            <a:ext cx="6658213" cy="1258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This workflow mirrors real-world production analytics environments where different tools handle specialized responsibilities.</a:t>
            </a:r>
            <a:endParaRPr lang="en-US" sz="14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7CFC2B39-F6C5-0602-1415-0236ABCE3CFA}"/>
              </a:ext>
            </a:extLst>
          </p:cNvPr>
          <p:cNvSpPr/>
          <p:nvPr/>
        </p:nvSpPr>
        <p:spPr>
          <a:xfrm>
            <a:off x="715646" y="581714"/>
            <a:ext cx="5901690" cy="1133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Tools &amp; Workflow</a:t>
            </a:r>
            <a:endParaRPr lang="en-US" sz="3550" dirty="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5F83C6B4-3A1D-002E-4C7E-38DCC75B19E2}"/>
              </a:ext>
            </a:extLst>
          </p:cNvPr>
          <p:cNvSpPr/>
          <p:nvPr/>
        </p:nvSpPr>
        <p:spPr>
          <a:xfrm>
            <a:off x="7396719" y="844629"/>
            <a:ext cx="4277201" cy="1620917"/>
          </a:xfrm>
          <a:prstGeom prst="roundRect">
            <a:avLst>
              <a:gd name="adj" fmla="val 6770"/>
            </a:avLst>
          </a:prstGeom>
          <a:solidFill>
            <a:srgbClr val="F8ECE4"/>
          </a:solidFill>
          <a:ln w="22860">
            <a:solidFill>
              <a:srgbClr val="151617"/>
            </a:solidFill>
            <a:prstDash val="solid"/>
          </a:ln>
          <a:effectLst>
            <a:outerShdw dist="1651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15C0BCA8-7C04-F61C-B85B-9B99663FA8C9}"/>
              </a:ext>
            </a:extLst>
          </p:cNvPr>
          <p:cNvSpPr/>
          <p:nvPr/>
        </p:nvSpPr>
        <p:spPr>
          <a:xfrm>
            <a:off x="7373859" y="844629"/>
            <a:ext cx="91440" cy="1620917"/>
          </a:xfrm>
          <a:prstGeom prst="roundRect">
            <a:avLst>
              <a:gd name="adj" fmla="val 10000"/>
            </a:avLst>
          </a:prstGeom>
          <a:solidFill>
            <a:srgbClr val="151617"/>
          </a:solidFill>
          <a:ln/>
        </p:spPr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0B8584B2-9910-2974-AFB7-E7F77D50E39C}"/>
              </a:ext>
            </a:extLst>
          </p:cNvPr>
          <p:cNvSpPr/>
          <p:nvPr/>
        </p:nvSpPr>
        <p:spPr>
          <a:xfrm>
            <a:off x="7669610" y="1048940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Python</a:t>
            </a:r>
            <a:endParaRPr lang="en-US" sz="175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D19A1531-99AF-7312-0A9D-8F37EF9DC68D}"/>
              </a:ext>
            </a:extLst>
          </p:cNvPr>
          <p:cNvSpPr/>
          <p:nvPr/>
        </p:nvSpPr>
        <p:spPr>
          <a:xfrm>
            <a:off x="7669610" y="1477565"/>
            <a:ext cx="3799999" cy="7836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Conver the dataset format, load the data into workbench, perform basic checks, and creates rich visualizations</a:t>
            </a:r>
            <a:endParaRPr lang="en-US" sz="1400" dirty="0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29857C4C-99F9-6E8C-969A-4091146B5016}"/>
              </a:ext>
            </a:extLst>
          </p:cNvPr>
          <p:cNvSpPr/>
          <p:nvPr/>
        </p:nvSpPr>
        <p:spPr>
          <a:xfrm>
            <a:off x="7396719" y="2610683"/>
            <a:ext cx="4277201" cy="1359694"/>
          </a:xfrm>
          <a:prstGeom prst="roundRect">
            <a:avLst>
              <a:gd name="adj" fmla="val 8070"/>
            </a:avLst>
          </a:prstGeom>
          <a:solidFill>
            <a:srgbClr val="F8ECE4"/>
          </a:solidFill>
          <a:ln w="22860">
            <a:solidFill>
              <a:srgbClr val="151617"/>
            </a:solidFill>
            <a:prstDash val="solid"/>
          </a:ln>
          <a:effectLst>
            <a:outerShdw dist="1651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33FF3BCD-C08A-8D85-045F-0175EA1BE742}"/>
              </a:ext>
            </a:extLst>
          </p:cNvPr>
          <p:cNvSpPr/>
          <p:nvPr/>
        </p:nvSpPr>
        <p:spPr>
          <a:xfrm>
            <a:off x="7373859" y="2610683"/>
            <a:ext cx="91440" cy="1359694"/>
          </a:xfrm>
          <a:prstGeom prst="roundRect">
            <a:avLst>
              <a:gd name="adj" fmla="val 10000"/>
            </a:avLst>
          </a:prstGeom>
          <a:solidFill>
            <a:srgbClr val="151617"/>
          </a:solidFill>
          <a:ln/>
        </p:spPr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9660ADE5-6319-E162-300F-18E62E469E44}"/>
              </a:ext>
            </a:extLst>
          </p:cNvPr>
          <p:cNvSpPr/>
          <p:nvPr/>
        </p:nvSpPr>
        <p:spPr>
          <a:xfrm>
            <a:off x="7669610" y="2814994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MySQL</a:t>
            </a:r>
            <a:endParaRPr lang="en-US" sz="1750" dirty="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92979111-1DE9-7BEA-D680-C1EF7E763AC6}"/>
              </a:ext>
            </a:extLst>
          </p:cNvPr>
          <p:cNvSpPr/>
          <p:nvPr/>
        </p:nvSpPr>
        <p:spPr>
          <a:xfrm>
            <a:off x="7669610" y="3243619"/>
            <a:ext cx="3799999" cy="522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Scalable analytics through complex joins, aggregations, and window functions</a:t>
            </a:r>
            <a:endParaRPr lang="en-US" sz="1400" dirty="0"/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06F5173D-798B-9BB6-04CC-CCFD30AF57B6}"/>
              </a:ext>
            </a:extLst>
          </p:cNvPr>
          <p:cNvSpPr/>
          <p:nvPr/>
        </p:nvSpPr>
        <p:spPr>
          <a:xfrm>
            <a:off x="7396719" y="4115514"/>
            <a:ext cx="4277201" cy="1620917"/>
          </a:xfrm>
          <a:prstGeom prst="roundRect">
            <a:avLst>
              <a:gd name="adj" fmla="val 6770"/>
            </a:avLst>
          </a:prstGeom>
          <a:solidFill>
            <a:srgbClr val="F8ECE4"/>
          </a:solidFill>
          <a:ln w="22860">
            <a:solidFill>
              <a:srgbClr val="151617"/>
            </a:solidFill>
            <a:prstDash val="solid"/>
          </a:ln>
          <a:effectLst>
            <a:outerShdw dist="1651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18" name="Shape 15">
            <a:extLst>
              <a:ext uri="{FF2B5EF4-FFF2-40B4-BE49-F238E27FC236}">
                <a16:creationId xmlns:a16="http://schemas.microsoft.com/office/drawing/2014/main" id="{2FBC9184-FD59-A09B-C4C4-3E830E38FD9C}"/>
              </a:ext>
            </a:extLst>
          </p:cNvPr>
          <p:cNvSpPr/>
          <p:nvPr/>
        </p:nvSpPr>
        <p:spPr>
          <a:xfrm>
            <a:off x="7373859" y="4115514"/>
            <a:ext cx="91440" cy="1620917"/>
          </a:xfrm>
          <a:prstGeom prst="roundRect">
            <a:avLst>
              <a:gd name="adj" fmla="val 10000"/>
            </a:avLst>
          </a:prstGeom>
          <a:solidFill>
            <a:srgbClr val="151617"/>
          </a:solidFill>
          <a:ln/>
        </p:spPr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73F53614-CFE7-02CF-55C8-425A302D9584}"/>
              </a:ext>
            </a:extLst>
          </p:cNvPr>
          <p:cNvSpPr/>
          <p:nvPr/>
        </p:nvSpPr>
        <p:spPr>
          <a:xfrm>
            <a:off x="7669610" y="4319825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GitHub</a:t>
            </a:r>
            <a:endParaRPr lang="en-US" sz="1750" dirty="0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EB65E82F-49F4-50AD-5A2A-22A3DC51FD7E}"/>
              </a:ext>
            </a:extLst>
          </p:cNvPr>
          <p:cNvSpPr/>
          <p:nvPr/>
        </p:nvSpPr>
        <p:spPr>
          <a:xfrm>
            <a:off x="7669610" y="4748450"/>
            <a:ext cx="3799999" cy="7836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Share the all work along with python notebook, SQL script, and datasets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595685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794FB3E-76EB-3CB2-A59C-016740D1994A}"/>
              </a:ext>
            </a:extLst>
          </p:cNvPr>
          <p:cNvSpPr/>
          <p:nvPr/>
        </p:nvSpPr>
        <p:spPr>
          <a:xfrm>
            <a:off x="793790" y="624126"/>
            <a:ext cx="5103614" cy="637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Dataset Overview</a:t>
            </a:r>
            <a:endParaRPr lang="en-US" sz="4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0ABB380-0B1F-2DC4-6670-B6267616A574}"/>
              </a:ext>
            </a:extLst>
          </p:cNvPr>
          <p:cNvSpPr/>
          <p:nvPr/>
        </p:nvSpPr>
        <p:spPr>
          <a:xfrm>
            <a:off x="816650" y="1566863"/>
            <a:ext cx="4241244" cy="1241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The provided dataset files spanning multiple dimensions and categories of the business, from customer demographics to payment behavior.</a:t>
            </a:r>
            <a:endParaRPr lang="en-US" sz="1600" dirty="0"/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6FDD8318-C79E-EAB1-893E-4736A1FB27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9465" y="1100631"/>
            <a:ext cx="5733096" cy="204904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Shape 2">
            <a:extLst>
              <a:ext uri="{FF2B5EF4-FFF2-40B4-BE49-F238E27FC236}">
                <a16:creationId xmlns:a16="http://schemas.microsoft.com/office/drawing/2014/main" id="{6B5E6B63-492C-4F39-5925-24488B6ABF52}"/>
              </a:ext>
            </a:extLst>
          </p:cNvPr>
          <p:cNvSpPr/>
          <p:nvPr/>
        </p:nvSpPr>
        <p:spPr>
          <a:xfrm>
            <a:off x="402630" y="3340021"/>
            <a:ext cx="45720" cy="1715810"/>
          </a:xfrm>
          <a:prstGeom prst="rect">
            <a:avLst/>
          </a:prstGeom>
          <a:solidFill>
            <a:srgbClr val="151617"/>
          </a:solidFill>
          <a:ln/>
        </p:spPr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0EC80F1D-73F9-527E-267B-B08C8D8E07C8}"/>
              </a:ext>
            </a:extLst>
          </p:cNvPr>
          <p:cNvSpPr/>
          <p:nvPr/>
        </p:nvSpPr>
        <p:spPr>
          <a:xfrm>
            <a:off x="675283" y="3362881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Customers</a:t>
            </a:r>
            <a:endParaRPr lang="en-US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8ED47ACD-9FA4-E0C6-040A-8ABB8D4773F9}"/>
              </a:ext>
            </a:extLst>
          </p:cNvPr>
          <p:cNvSpPr/>
          <p:nvPr/>
        </p:nvSpPr>
        <p:spPr>
          <a:xfrm>
            <a:off x="675283" y="3791863"/>
            <a:ext cx="2624693" cy="1241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400" dirty="0"/>
              <a:t>Customer ID, Unique ID, Zip Code, City, and State information is present</a:t>
            </a:r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D297DCB8-8287-AE66-9F02-D6EEBF1F16D1}"/>
              </a:ext>
            </a:extLst>
          </p:cNvPr>
          <p:cNvSpPr/>
          <p:nvPr/>
        </p:nvSpPr>
        <p:spPr>
          <a:xfrm>
            <a:off x="3365063" y="3340021"/>
            <a:ext cx="45720" cy="1715810"/>
          </a:xfrm>
          <a:prstGeom prst="rect">
            <a:avLst/>
          </a:prstGeom>
          <a:solidFill>
            <a:srgbClr val="151617"/>
          </a:solidFill>
          <a:ln/>
        </p:spPr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D3DC7E14-94A4-6E0D-DDB8-D967917D77DA}"/>
              </a:ext>
            </a:extLst>
          </p:cNvPr>
          <p:cNvSpPr/>
          <p:nvPr/>
        </p:nvSpPr>
        <p:spPr>
          <a:xfrm>
            <a:off x="3637717" y="3362881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Orders</a:t>
            </a:r>
            <a:endParaRPr lang="en-US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B52C666F-F96B-B5A1-61A9-7480846E3311}"/>
              </a:ext>
            </a:extLst>
          </p:cNvPr>
          <p:cNvSpPr/>
          <p:nvPr/>
        </p:nvSpPr>
        <p:spPr>
          <a:xfrm>
            <a:off x="3637718" y="3791863"/>
            <a:ext cx="2523212" cy="1241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400" dirty="0"/>
              <a:t>Have the details of order status with time stamps. Order ID is there with respect to customer ID</a:t>
            </a:r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263BC9A3-1495-04E8-84E8-6C90D25226B7}"/>
              </a:ext>
            </a:extLst>
          </p:cNvPr>
          <p:cNvSpPr/>
          <p:nvPr/>
        </p:nvSpPr>
        <p:spPr>
          <a:xfrm>
            <a:off x="6226016" y="3340021"/>
            <a:ext cx="45720" cy="1715810"/>
          </a:xfrm>
          <a:prstGeom prst="rect">
            <a:avLst/>
          </a:prstGeom>
          <a:solidFill>
            <a:srgbClr val="151617"/>
          </a:solidFill>
          <a:ln/>
        </p:spPr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2FB16D0C-92CF-3609-F16C-E3E8577858FD}"/>
              </a:ext>
            </a:extLst>
          </p:cNvPr>
          <p:cNvSpPr/>
          <p:nvPr/>
        </p:nvSpPr>
        <p:spPr>
          <a:xfrm>
            <a:off x="6498669" y="3362881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Order Items</a:t>
            </a:r>
            <a:endParaRPr lang="en-US" dirty="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9BC46593-B78D-AD8F-5413-2AE7BFD532C6}"/>
              </a:ext>
            </a:extLst>
          </p:cNvPr>
          <p:cNvSpPr/>
          <p:nvPr/>
        </p:nvSpPr>
        <p:spPr>
          <a:xfrm>
            <a:off x="6498669" y="3791863"/>
            <a:ext cx="2617075" cy="1241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400" dirty="0"/>
              <a:t>This has the product Id with the price and quantity, ordered with respect to the order ID</a:t>
            </a:r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F8E9C9EF-3B39-D1CD-239E-0AC83239D922}"/>
              </a:ext>
            </a:extLst>
          </p:cNvPr>
          <p:cNvSpPr/>
          <p:nvPr/>
        </p:nvSpPr>
        <p:spPr>
          <a:xfrm>
            <a:off x="9226550" y="3340021"/>
            <a:ext cx="45720" cy="1715810"/>
          </a:xfrm>
          <a:prstGeom prst="rect">
            <a:avLst/>
          </a:prstGeom>
          <a:solidFill>
            <a:srgbClr val="151617"/>
          </a:solidFill>
          <a:ln/>
        </p:spPr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BAFC5B39-AC15-292B-BA12-D65C65C200BF}"/>
              </a:ext>
            </a:extLst>
          </p:cNvPr>
          <p:cNvSpPr/>
          <p:nvPr/>
        </p:nvSpPr>
        <p:spPr>
          <a:xfrm>
            <a:off x="9499203" y="3362881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Payments</a:t>
            </a:r>
            <a:endParaRPr lang="en-US" dirty="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8981F115-C25B-E3E8-142C-4418E3348F65}"/>
              </a:ext>
            </a:extLst>
          </p:cNvPr>
          <p:cNvSpPr/>
          <p:nvPr/>
        </p:nvSpPr>
        <p:spPr>
          <a:xfrm>
            <a:off x="9499204" y="3791863"/>
            <a:ext cx="2423358" cy="1241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400" dirty="0"/>
              <a:t>With respect to the order ID , it has the amount, method of payment and installments details</a:t>
            </a:r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2AE90382-9D2D-4417-7D9C-1D8F3E6861CA}"/>
              </a:ext>
            </a:extLst>
          </p:cNvPr>
          <p:cNvSpPr/>
          <p:nvPr/>
        </p:nvSpPr>
        <p:spPr>
          <a:xfrm>
            <a:off x="402630" y="5263237"/>
            <a:ext cx="45720" cy="784979"/>
          </a:xfrm>
          <a:prstGeom prst="rect">
            <a:avLst/>
          </a:prstGeom>
          <a:solidFill>
            <a:srgbClr val="151617"/>
          </a:solidFill>
          <a:ln/>
        </p:spPr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CFB01803-06EA-579B-2382-E4D87A1DF0C5}"/>
              </a:ext>
            </a:extLst>
          </p:cNvPr>
          <p:cNvSpPr/>
          <p:nvPr/>
        </p:nvSpPr>
        <p:spPr>
          <a:xfrm>
            <a:off x="675283" y="5286097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Products</a:t>
            </a:r>
            <a:endParaRPr lang="en-US" dirty="0"/>
          </a:p>
        </p:txBody>
      </p:sp>
      <p:sp>
        <p:nvSpPr>
          <p:cNvPr id="20" name="Shape 14">
            <a:extLst>
              <a:ext uri="{FF2B5EF4-FFF2-40B4-BE49-F238E27FC236}">
                <a16:creationId xmlns:a16="http://schemas.microsoft.com/office/drawing/2014/main" id="{E4E80963-99DF-FE7A-8088-8BDE69CF19B3}"/>
              </a:ext>
            </a:extLst>
          </p:cNvPr>
          <p:cNvSpPr/>
          <p:nvPr/>
        </p:nvSpPr>
        <p:spPr>
          <a:xfrm>
            <a:off x="3365064" y="5250497"/>
            <a:ext cx="45720" cy="784979"/>
          </a:xfrm>
          <a:prstGeom prst="rect">
            <a:avLst/>
          </a:prstGeom>
          <a:solidFill>
            <a:srgbClr val="151617"/>
          </a:solidFill>
          <a:ln/>
        </p:spPr>
      </p:sp>
      <p:sp>
        <p:nvSpPr>
          <p:cNvPr id="21" name="Text 15">
            <a:extLst>
              <a:ext uri="{FF2B5EF4-FFF2-40B4-BE49-F238E27FC236}">
                <a16:creationId xmlns:a16="http://schemas.microsoft.com/office/drawing/2014/main" id="{9D7EC992-D6BB-75D7-883C-5C0248980C4D}"/>
              </a:ext>
            </a:extLst>
          </p:cNvPr>
          <p:cNvSpPr/>
          <p:nvPr/>
        </p:nvSpPr>
        <p:spPr>
          <a:xfrm>
            <a:off x="3637717" y="5273357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Sellers</a:t>
            </a:r>
            <a:endParaRPr lang="en-US" dirty="0"/>
          </a:p>
        </p:txBody>
      </p:sp>
      <p:sp>
        <p:nvSpPr>
          <p:cNvPr id="23" name="Shape 14">
            <a:extLst>
              <a:ext uri="{FF2B5EF4-FFF2-40B4-BE49-F238E27FC236}">
                <a16:creationId xmlns:a16="http://schemas.microsoft.com/office/drawing/2014/main" id="{5D5CA956-6776-80FC-838B-C7430C5C8584}"/>
              </a:ext>
            </a:extLst>
          </p:cNvPr>
          <p:cNvSpPr/>
          <p:nvPr/>
        </p:nvSpPr>
        <p:spPr>
          <a:xfrm>
            <a:off x="6226016" y="5273357"/>
            <a:ext cx="45720" cy="784979"/>
          </a:xfrm>
          <a:prstGeom prst="rect">
            <a:avLst/>
          </a:prstGeom>
          <a:solidFill>
            <a:srgbClr val="151617"/>
          </a:solidFill>
          <a:ln/>
        </p:spPr>
      </p:sp>
      <p:sp>
        <p:nvSpPr>
          <p:cNvPr id="24" name="Text 15">
            <a:extLst>
              <a:ext uri="{FF2B5EF4-FFF2-40B4-BE49-F238E27FC236}">
                <a16:creationId xmlns:a16="http://schemas.microsoft.com/office/drawing/2014/main" id="{A25B4E2F-93C3-CBE6-CCF1-294783666780}"/>
              </a:ext>
            </a:extLst>
          </p:cNvPr>
          <p:cNvSpPr/>
          <p:nvPr/>
        </p:nvSpPr>
        <p:spPr>
          <a:xfrm>
            <a:off x="6498669" y="5296217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Geolocation</a:t>
            </a:r>
            <a:endParaRPr lang="en-US" dirty="0"/>
          </a:p>
        </p:txBody>
      </p:sp>
      <p:sp>
        <p:nvSpPr>
          <p:cNvPr id="26" name="Text 4">
            <a:extLst>
              <a:ext uri="{FF2B5EF4-FFF2-40B4-BE49-F238E27FC236}">
                <a16:creationId xmlns:a16="http://schemas.microsoft.com/office/drawing/2014/main" id="{1A47358A-5E7D-819D-824F-74C6F6E7E2A2}"/>
              </a:ext>
            </a:extLst>
          </p:cNvPr>
          <p:cNvSpPr/>
          <p:nvPr/>
        </p:nvSpPr>
        <p:spPr>
          <a:xfrm>
            <a:off x="671354" y="5592206"/>
            <a:ext cx="2624693" cy="1241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400" dirty="0"/>
              <a:t>This has details of products with the name, size, photos and description code</a:t>
            </a:r>
          </a:p>
        </p:txBody>
      </p:sp>
      <p:sp>
        <p:nvSpPr>
          <p:cNvPr id="27" name="Text 4">
            <a:extLst>
              <a:ext uri="{FF2B5EF4-FFF2-40B4-BE49-F238E27FC236}">
                <a16:creationId xmlns:a16="http://schemas.microsoft.com/office/drawing/2014/main" id="{91220CDE-FE27-B808-7EC5-D052622711A5}"/>
              </a:ext>
            </a:extLst>
          </p:cNvPr>
          <p:cNvSpPr/>
          <p:nvPr/>
        </p:nvSpPr>
        <p:spPr>
          <a:xfrm>
            <a:off x="3647044" y="5592206"/>
            <a:ext cx="2496702" cy="1241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400" dirty="0"/>
              <a:t>Information of seller location with the city, state and zip code</a:t>
            </a:r>
          </a:p>
        </p:txBody>
      </p:sp>
      <p:sp>
        <p:nvSpPr>
          <p:cNvPr id="28" name="Text 4">
            <a:extLst>
              <a:ext uri="{FF2B5EF4-FFF2-40B4-BE49-F238E27FC236}">
                <a16:creationId xmlns:a16="http://schemas.microsoft.com/office/drawing/2014/main" id="{49673877-FB71-11A2-BB28-AB4E6C592A61}"/>
              </a:ext>
            </a:extLst>
          </p:cNvPr>
          <p:cNvSpPr/>
          <p:nvPr/>
        </p:nvSpPr>
        <p:spPr>
          <a:xfrm>
            <a:off x="6491051" y="5604946"/>
            <a:ext cx="2624693" cy="1241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400" dirty="0"/>
              <a:t>With respect to the Zip code it has the coordinates, city name and the state code.</a:t>
            </a:r>
          </a:p>
        </p:txBody>
      </p:sp>
    </p:spTree>
    <p:extLst>
      <p:ext uri="{BB962C8B-B14F-4D97-AF65-F5344CB8AC3E}">
        <p14:creationId xmlns:p14="http://schemas.microsoft.com/office/powerpoint/2010/main" val="12274321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24594313-7B59-D3D5-6BD5-763362F7ED7A}"/>
              </a:ext>
            </a:extLst>
          </p:cNvPr>
          <p:cNvSpPr/>
          <p:nvPr/>
        </p:nvSpPr>
        <p:spPr>
          <a:xfrm>
            <a:off x="576679" y="694015"/>
            <a:ext cx="4078248" cy="1133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Data Ingestion Strategy</a:t>
            </a:r>
            <a:endParaRPr lang="en-US" sz="355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A6657B9-6856-8642-A6EE-1AF796EF2EE6}"/>
              </a:ext>
            </a:extLst>
          </p:cNvPr>
          <p:cNvSpPr/>
          <p:nvPr/>
        </p:nvSpPr>
        <p:spPr>
          <a:xfrm>
            <a:off x="450771" y="2487334"/>
            <a:ext cx="3456981" cy="24226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Loading data efficiently is critical for production-scale analytics and sets the foundation for all downstream analysis.</a:t>
            </a:r>
            <a:endParaRPr lang="en-US" sz="175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E5807797-3FED-A954-FDF6-3A74DC680DAD}"/>
              </a:ext>
            </a:extLst>
          </p:cNvPr>
          <p:cNvSpPr/>
          <p:nvPr/>
        </p:nvSpPr>
        <p:spPr>
          <a:xfrm>
            <a:off x="8073906" y="501848"/>
            <a:ext cx="30480" cy="6311384"/>
          </a:xfrm>
          <a:prstGeom prst="roundRect">
            <a:avLst>
              <a:gd name="adj" fmla="val 30000"/>
            </a:avLst>
          </a:prstGeom>
          <a:solidFill>
            <a:srgbClr val="000000">
              <a:alpha val="8000"/>
            </a:srgbClr>
          </a:solidFill>
          <a:ln/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4DCABD57-70FD-DCF0-EC17-DEC7A3AC7BB1}"/>
              </a:ext>
            </a:extLst>
          </p:cNvPr>
          <p:cNvSpPr/>
          <p:nvPr/>
        </p:nvSpPr>
        <p:spPr>
          <a:xfrm>
            <a:off x="7184033" y="741759"/>
            <a:ext cx="680442" cy="30480"/>
          </a:xfrm>
          <a:prstGeom prst="roundRect">
            <a:avLst>
              <a:gd name="adj" fmla="val 30000"/>
            </a:avLst>
          </a:prstGeom>
          <a:solidFill>
            <a:srgbClr val="151617"/>
          </a:solidFill>
          <a:ln/>
        </p:spPr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72098C37-B471-C642-9DB3-C7AA270E7C22}"/>
              </a:ext>
            </a:extLst>
          </p:cNvPr>
          <p:cNvSpPr/>
          <p:nvPr/>
        </p:nvSpPr>
        <p:spPr>
          <a:xfrm>
            <a:off x="7833995" y="501848"/>
            <a:ext cx="510302" cy="510302"/>
          </a:xfrm>
          <a:prstGeom prst="roundRect">
            <a:avLst>
              <a:gd name="adj" fmla="val 1792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  <a:effectLst>
            <a:outerShdw dist="2032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9ADAB487-9A74-4255-D9CF-F10481EAAC1F}"/>
              </a:ext>
            </a:extLst>
          </p:cNvPr>
          <p:cNvSpPr/>
          <p:nvPr/>
        </p:nvSpPr>
        <p:spPr>
          <a:xfrm>
            <a:off x="7919065" y="544354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0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85A5966D-18C6-C2FB-7E81-D94449F55972}"/>
              </a:ext>
            </a:extLst>
          </p:cNvPr>
          <p:cNvSpPr/>
          <p:nvPr/>
        </p:nvSpPr>
        <p:spPr>
          <a:xfrm>
            <a:off x="4310340" y="5797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Learning Phase</a:t>
            </a:r>
            <a:endParaRPr lang="en-US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DD189618-FFC1-F3F4-D744-98B9E92C86AD}"/>
              </a:ext>
            </a:extLst>
          </p:cNvPr>
          <p:cNvSpPr/>
          <p:nvPr/>
        </p:nvSpPr>
        <p:spPr>
          <a:xfrm>
            <a:off x="4157286" y="934045"/>
            <a:ext cx="300799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Python-based ingestion demonstrated for educational purposes and proof of concept</a:t>
            </a:r>
            <a:endParaRPr lang="en-US" sz="14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1642DD33-B3E5-19C4-DD75-EB39F44063D1}"/>
              </a:ext>
            </a:extLst>
          </p:cNvPr>
          <p:cNvSpPr/>
          <p:nvPr/>
        </p:nvSpPr>
        <p:spPr>
          <a:xfrm>
            <a:off x="8313817" y="2102644"/>
            <a:ext cx="680442" cy="30480"/>
          </a:xfrm>
          <a:prstGeom prst="roundRect">
            <a:avLst>
              <a:gd name="adj" fmla="val 30000"/>
            </a:avLst>
          </a:prstGeom>
          <a:solidFill>
            <a:srgbClr val="151617"/>
          </a:solidFill>
          <a:ln/>
        </p:spPr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8E689699-0D9E-4C20-6666-2F2DC7708480}"/>
              </a:ext>
            </a:extLst>
          </p:cNvPr>
          <p:cNvSpPr/>
          <p:nvPr/>
        </p:nvSpPr>
        <p:spPr>
          <a:xfrm>
            <a:off x="7833995" y="1862733"/>
            <a:ext cx="510302" cy="510302"/>
          </a:xfrm>
          <a:prstGeom prst="roundRect">
            <a:avLst>
              <a:gd name="adj" fmla="val 1792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  <a:effectLst>
            <a:outerShdw dist="2032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1B0C11C9-898C-678C-F3C7-AD221DD5FBB7}"/>
              </a:ext>
            </a:extLst>
          </p:cNvPr>
          <p:cNvSpPr/>
          <p:nvPr/>
        </p:nvSpPr>
        <p:spPr>
          <a:xfrm>
            <a:off x="7919065" y="1905238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0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BA9646B0-2724-4AF3-1C29-346B8759536A}"/>
              </a:ext>
            </a:extLst>
          </p:cNvPr>
          <p:cNvSpPr/>
          <p:nvPr/>
        </p:nvSpPr>
        <p:spPr>
          <a:xfrm>
            <a:off x="8994616" y="1940600"/>
            <a:ext cx="285702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Production Choice</a:t>
            </a:r>
            <a:endParaRPr lang="en-US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DE1E8CD0-6A92-A573-95AD-39F65CC93C33}"/>
              </a:ext>
            </a:extLst>
          </p:cNvPr>
          <p:cNvSpPr/>
          <p:nvPr/>
        </p:nvSpPr>
        <p:spPr>
          <a:xfrm>
            <a:off x="8994259" y="2294930"/>
            <a:ext cx="300799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MySQL LOAD DATA INFILE selected for final implementation</a:t>
            </a:r>
            <a:endParaRPr lang="en-US" sz="14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DEBB1E00-E4E7-FFD3-5164-90D2401B658B}"/>
              </a:ext>
            </a:extLst>
          </p:cNvPr>
          <p:cNvSpPr/>
          <p:nvPr/>
        </p:nvSpPr>
        <p:spPr>
          <a:xfrm>
            <a:off x="7184033" y="3306008"/>
            <a:ext cx="680442" cy="30480"/>
          </a:xfrm>
          <a:prstGeom prst="roundRect">
            <a:avLst>
              <a:gd name="adj" fmla="val 30000"/>
            </a:avLst>
          </a:prstGeom>
          <a:solidFill>
            <a:srgbClr val="151617"/>
          </a:solidFill>
          <a:ln/>
        </p:spPr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B637C7A1-EDFE-26BD-7A46-41D849E6C0F8}"/>
              </a:ext>
            </a:extLst>
          </p:cNvPr>
          <p:cNvSpPr/>
          <p:nvPr/>
        </p:nvSpPr>
        <p:spPr>
          <a:xfrm>
            <a:off x="7833995" y="3066098"/>
            <a:ext cx="510302" cy="510302"/>
          </a:xfrm>
          <a:prstGeom prst="roundRect">
            <a:avLst>
              <a:gd name="adj" fmla="val 1792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  <a:effectLst>
            <a:outerShdw dist="2032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EFAACB74-F824-1DBC-610D-33C8E3ED1A00}"/>
              </a:ext>
            </a:extLst>
          </p:cNvPr>
          <p:cNvSpPr/>
          <p:nvPr/>
        </p:nvSpPr>
        <p:spPr>
          <a:xfrm>
            <a:off x="7919065" y="3108603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0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5DDEB7CE-A083-2CCD-12E9-75B3BE4EC76C}"/>
              </a:ext>
            </a:extLst>
          </p:cNvPr>
          <p:cNvSpPr/>
          <p:nvPr/>
        </p:nvSpPr>
        <p:spPr>
          <a:xfrm>
            <a:off x="4137581" y="3143964"/>
            <a:ext cx="300799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Performance Benefits</a:t>
            </a:r>
            <a:endParaRPr lang="en-US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47EB5233-9BD0-0626-40E1-7FB544CC9A21}"/>
              </a:ext>
            </a:extLst>
          </p:cNvPr>
          <p:cNvSpPr/>
          <p:nvPr/>
        </p:nvSpPr>
        <p:spPr>
          <a:xfrm>
            <a:off x="4137581" y="3576400"/>
            <a:ext cx="300799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Industry-standard approach delivering faster load times and superior scalability</a:t>
            </a:r>
            <a:endParaRPr lang="en-US" sz="1400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352FCC78-3D61-BCC6-CB00-78B3493671D3}"/>
              </a:ext>
            </a:extLst>
          </p:cNvPr>
          <p:cNvSpPr/>
          <p:nvPr/>
        </p:nvSpPr>
        <p:spPr>
          <a:xfrm>
            <a:off x="8313817" y="4765238"/>
            <a:ext cx="680442" cy="30480"/>
          </a:xfrm>
          <a:prstGeom prst="roundRect">
            <a:avLst>
              <a:gd name="adj" fmla="val 30000"/>
            </a:avLst>
          </a:prstGeom>
          <a:solidFill>
            <a:srgbClr val="151617"/>
          </a:solidFill>
          <a:ln/>
        </p:spPr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ADC60FBE-2C1C-BF04-6A1F-5B058510DBF2}"/>
              </a:ext>
            </a:extLst>
          </p:cNvPr>
          <p:cNvSpPr/>
          <p:nvPr/>
        </p:nvSpPr>
        <p:spPr>
          <a:xfrm>
            <a:off x="7833995" y="4525328"/>
            <a:ext cx="510302" cy="510302"/>
          </a:xfrm>
          <a:prstGeom prst="roundRect">
            <a:avLst>
              <a:gd name="adj" fmla="val 1792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  <a:effectLst>
            <a:outerShdw dist="2032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7F1DDDFA-8100-1C5E-011D-3796D9FF14EC}"/>
              </a:ext>
            </a:extLst>
          </p:cNvPr>
          <p:cNvSpPr/>
          <p:nvPr/>
        </p:nvSpPr>
        <p:spPr>
          <a:xfrm>
            <a:off x="7919065" y="4567833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0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E5D08CE1-FA69-7F2F-19DF-38AC0725C120}"/>
              </a:ext>
            </a:extLst>
          </p:cNvPr>
          <p:cNvSpPr/>
          <p:nvPr/>
        </p:nvSpPr>
        <p:spPr>
          <a:xfrm>
            <a:off x="8994616" y="460319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Documentation</a:t>
            </a:r>
            <a:endParaRPr lang="en-US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F13C5E2E-8AB6-9704-33AF-88CCA8663338}"/>
              </a:ext>
            </a:extLst>
          </p:cNvPr>
          <p:cNvSpPr/>
          <p:nvPr/>
        </p:nvSpPr>
        <p:spPr>
          <a:xfrm>
            <a:off x="8994259" y="4993124"/>
            <a:ext cx="300799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Decision rationale and implementation details clearly documented in project notebook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0391126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98F9407-DF85-5815-6488-DAFD3EB578C3}"/>
              </a:ext>
            </a:extLst>
          </p:cNvPr>
          <p:cNvSpPr/>
          <p:nvPr/>
        </p:nvSpPr>
        <p:spPr>
          <a:xfrm>
            <a:off x="412790" y="531614"/>
            <a:ext cx="5400556" cy="637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SQL Analysis Scope</a:t>
            </a:r>
            <a:endParaRPr lang="en-US" sz="4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70389B3-9FDF-4A2B-CDDD-F4C12549EB98}"/>
              </a:ext>
            </a:extLst>
          </p:cNvPr>
          <p:cNvSpPr/>
          <p:nvPr/>
        </p:nvSpPr>
        <p:spPr>
          <a:xfrm>
            <a:off x="412791" y="1536978"/>
            <a:ext cx="11347410" cy="620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The analysis progresses through three tiers of increasing complexity, building from foundational metrics to sophisticated business intelligence.</a:t>
            </a:r>
            <a:endParaRPr lang="en-US" sz="14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5438E41F-8C2C-24F8-6D41-AEE4FC227C0F}"/>
              </a:ext>
            </a:extLst>
          </p:cNvPr>
          <p:cNvSpPr/>
          <p:nvPr/>
        </p:nvSpPr>
        <p:spPr>
          <a:xfrm>
            <a:off x="412790" y="2364224"/>
            <a:ext cx="2173724" cy="1147405"/>
          </a:xfrm>
          <a:prstGeom prst="roundRect">
            <a:avLst>
              <a:gd name="adj" fmla="val 797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  <a:effectLst>
            <a:outerShdw dist="19050" dir="2700000" algn="bl" rotWithShape="0">
              <a:srgbClr val="151617">
                <a:alpha val="100000"/>
              </a:srgbClr>
            </a:outerShdw>
          </a:effectLst>
        </p:spPr>
      </p:sp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A3ADBD63-2618-ED5B-67EC-6CE5F932C2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56122" y="2794397"/>
            <a:ext cx="287060" cy="287060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85717A1C-155F-F1F9-047D-50DDB5F4489B}"/>
              </a:ext>
            </a:extLst>
          </p:cNvPr>
          <p:cNvSpPr/>
          <p:nvPr/>
        </p:nvSpPr>
        <p:spPr>
          <a:xfrm>
            <a:off x="2790587" y="2492097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Basic Analysis</a:t>
            </a:r>
            <a:endParaRPr lang="en-US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DA3B834A-B921-A304-2255-24EBCBC31280}"/>
              </a:ext>
            </a:extLst>
          </p:cNvPr>
          <p:cNvSpPr/>
          <p:nvPr/>
        </p:nvSpPr>
        <p:spPr>
          <a:xfrm>
            <a:off x="2790587" y="2921079"/>
            <a:ext cx="9999702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Order counts, customer demographics, payment method distribution, and fundamental business metrics</a:t>
            </a:r>
            <a:endParaRPr lang="en-US" sz="1400" dirty="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E4AA8EC8-B257-9A9E-C3D6-50E72746623A}"/>
              </a:ext>
            </a:extLst>
          </p:cNvPr>
          <p:cNvSpPr/>
          <p:nvPr/>
        </p:nvSpPr>
        <p:spPr>
          <a:xfrm>
            <a:off x="2688551" y="3425903"/>
            <a:ext cx="8931950" cy="45719"/>
          </a:xfrm>
          <a:prstGeom prst="roundRect">
            <a:avLst>
              <a:gd name="adj" fmla="val 80000"/>
            </a:avLst>
          </a:prstGeom>
          <a:solidFill>
            <a:srgbClr val="151617"/>
          </a:solidFill>
          <a:ln/>
        </p:spPr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E9A23738-8EBE-527B-9C1B-6201AEEEC854}"/>
              </a:ext>
            </a:extLst>
          </p:cNvPr>
          <p:cNvSpPr/>
          <p:nvPr/>
        </p:nvSpPr>
        <p:spPr>
          <a:xfrm>
            <a:off x="412790" y="3613666"/>
            <a:ext cx="4347567" cy="1457682"/>
          </a:xfrm>
          <a:prstGeom prst="roundRect">
            <a:avLst>
              <a:gd name="adj" fmla="val 627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  <a:effectLst>
            <a:outerShdw dist="19050" dir="2700000" algn="bl" rotWithShape="0">
              <a:srgbClr val="151617">
                <a:alpha val="100000"/>
              </a:srgbClr>
            </a:outerShdw>
          </a:effectLst>
        </p:spPr>
      </p:sp>
      <p:pic>
        <p:nvPicPr>
          <p:cNvPr id="10" name="Image 1" descr="preencoded.png">
            <a:extLst>
              <a:ext uri="{FF2B5EF4-FFF2-40B4-BE49-F238E27FC236}">
                <a16:creationId xmlns:a16="http://schemas.microsoft.com/office/drawing/2014/main" id="{D13FA0B1-B7BF-D001-1C10-510E3880101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443043" y="4198977"/>
            <a:ext cx="287060" cy="287060"/>
          </a:xfrm>
          <a:prstGeom prst="rect">
            <a:avLst/>
          </a:prstGeom>
        </p:spPr>
      </p:pic>
      <p:sp>
        <p:nvSpPr>
          <p:cNvPr id="11" name="Text 7">
            <a:extLst>
              <a:ext uri="{FF2B5EF4-FFF2-40B4-BE49-F238E27FC236}">
                <a16:creationId xmlns:a16="http://schemas.microsoft.com/office/drawing/2014/main" id="{4D880DCD-E080-D1B3-EE09-94EFA34040DD}"/>
              </a:ext>
            </a:extLst>
          </p:cNvPr>
          <p:cNvSpPr/>
          <p:nvPr/>
        </p:nvSpPr>
        <p:spPr>
          <a:xfrm>
            <a:off x="4964430" y="3817739"/>
            <a:ext cx="3045143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Intermediate Analysis</a:t>
            </a:r>
            <a:endParaRPr lang="en-US" dirty="0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9499FD92-E428-DC8F-D9EC-F4C23198939E}"/>
              </a:ext>
            </a:extLst>
          </p:cNvPr>
          <p:cNvSpPr/>
          <p:nvPr/>
        </p:nvSpPr>
        <p:spPr>
          <a:xfrm>
            <a:off x="4964430" y="4246720"/>
            <a:ext cx="6758109" cy="7492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Revenue calculations, seller performance rankings, time-based trends, and comparative metrics</a:t>
            </a:r>
            <a:endParaRPr lang="en-US" sz="1400" dirty="0"/>
          </a:p>
        </p:txBody>
      </p:sp>
      <p:sp>
        <p:nvSpPr>
          <p:cNvPr id="13" name="Shape 9">
            <a:extLst>
              <a:ext uri="{FF2B5EF4-FFF2-40B4-BE49-F238E27FC236}">
                <a16:creationId xmlns:a16="http://schemas.microsoft.com/office/drawing/2014/main" id="{8A6D1D3E-01C1-63A8-9358-EDE99EE3632F}"/>
              </a:ext>
            </a:extLst>
          </p:cNvPr>
          <p:cNvSpPr/>
          <p:nvPr/>
        </p:nvSpPr>
        <p:spPr>
          <a:xfrm>
            <a:off x="4862393" y="5061822"/>
            <a:ext cx="6758108" cy="45719"/>
          </a:xfrm>
          <a:prstGeom prst="roundRect">
            <a:avLst>
              <a:gd name="adj" fmla="val 80000"/>
            </a:avLst>
          </a:prstGeom>
          <a:solidFill>
            <a:srgbClr val="151617"/>
          </a:solidFill>
          <a:ln/>
        </p:spPr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E83F0C92-A318-A834-BB06-8E1D7AD952B0}"/>
              </a:ext>
            </a:extLst>
          </p:cNvPr>
          <p:cNvSpPr/>
          <p:nvPr/>
        </p:nvSpPr>
        <p:spPr>
          <a:xfrm>
            <a:off x="412790" y="5173385"/>
            <a:ext cx="6521410" cy="1457682"/>
          </a:xfrm>
          <a:prstGeom prst="roundRect">
            <a:avLst>
              <a:gd name="adj" fmla="val 627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  <a:effectLst>
            <a:outerShdw dist="19050" dir="2700000" algn="bl" rotWithShape="0">
              <a:srgbClr val="151617">
                <a:alpha val="100000"/>
              </a:srgbClr>
            </a:outerShdw>
          </a:effectLst>
        </p:spPr>
      </p:sp>
      <p:pic>
        <p:nvPicPr>
          <p:cNvPr id="15" name="Image 2" descr="preencoded.png">
            <a:extLst>
              <a:ext uri="{FF2B5EF4-FFF2-40B4-BE49-F238E27FC236}">
                <a16:creationId xmlns:a16="http://schemas.microsoft.com/office/drawing/2014/main" id="{323DCE91-FA2A-FC32-BDB2-FA52597D35E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529965" y="5758696"/>
            <a:ext cx="287060" cy="287060"/>
          </a:xfrm>
          <a:prstGeom prst="rect">
            <a:avLst/>
          </a:prstGeom>
        </p:spPr>
      </p:pic>
      <p:sp>
        <p:nvSpPr>
          <p:cNvPr id="16" name="Text 11">
            <a:extLst>
              <a:ext uri="{FF2B5EF4-FFF2-40B4-BE49-F238E27FC236}">
                <a16:creationId xmlns:a16="http://schemas.microsoft.com/office/drawing/2014/main" id="{811D1BF8-0A0C-E965-C6B6-B03DB9A5B69F}"/>
              </a:ext>
            </a:extLst>
          </p:cNvPr>
          <p:cNvSpPr/>
          <p:nvPr/>
        </p:nvSpPr>
        <p:spPr>
          <a:xfrm>
            <a:off x="7138273" y="5377458"/>
            <a:ext cx="2629972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Advanced Analysis</a:t>
            </a:r>
            <a:endParaRPr lang="en-US" dirty="0"/>
          </a:p>
        </p:txBody>
      </p:sp>
      <p:sp>
        <p:nvSpPr>
          <p:cNvPr id="17" name="Text 12">
            <a:extLst>
              <a:ext uri="{FF2B5EF4-FFF2-40B4-BE49-F238E27FC236}">
                <a16:creationId xmlns:a16="http://schemas.microsoft.com/office/drawing/2014/main" id="{1CA30F3F-8F1C-6BE4-07F4-2B6962708F0E}"/>
              </a:ext>
            </a:extLst>
          </p:cNvPr>
          <p:cNvSpPr/>
          <p:nvPr/>
        </p:nvSpPr>
        <p:spPr>
          <a:xfrm>
            <a:off x="7138273" y="5615940"/>
            <a:ext cx="4584266" cy="749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Growth rate modeling, customer retention cohorts, lifetime value calculation, and top contributor identification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9956155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BF9A831-042B-121E-3ADB-66049EC4B4F4}"/>
              </a:ext>
            </a:extLst>
          </p:cNvPr>
          <p:cNvSpPr/>
          <p:nvPr/>
        </p:nvSpPr>
        <p:spPr>
          <a:xfrm>
            <a:off x="400090" y="448905"/>
            <a:ext cx="1795582" cy="370642"/>
          </a:xfrm>
          <a:prstGeom prst="roundRect">
            <a:avLst>
              <a:gd name="adj" fmla="val 2467"/>
            </a:avLst>
          </a:prstGeom>
          <a:solidFill>
            <a:srgbClr val="E4E6E7"/>
          </a:solidFill>
          <a:ln/>
        </p:spPr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B354FE96-09C9-86CB-78BC-8BF4157A44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2486" y="552609"/>
            <a:ext cx="163235" cy="163235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57AB3AEC-EAA4-75F2-E1B0-3A854B9FAB21}"/>
              </a:ext>
            </a:extLst>
          </p:cNvPr>
          <p:cNvSpPr/>
          <p:nvPr/>
        </p:nvSpPr>
        <p:spPr>
          <a:xfrm>
            <a:off x="767278" y="510103"/>
            <a:ext cx="1305997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REVENUE ANALYSIS</a:t>
            </a:r>
            <a:endParaRPr lang="en-US" sz="125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EC692AC8-2C0D-839E-434D-BA6A11BDBC3C}"/>
              </a:ext>
            </a:extLst>
          </p:cNvPr>
          <p:cNvSpPr/>
          <p:nvPr/>
        </p:nvSpPr>
        <p:spPr>
          <a:xfrm>
            <a:off x="400090" y="893008"/>
            <a:ext cx="8855869" cy="637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3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Revenue Performance</a:t>
            </a:r>
            <a:endParaRPr lang="en-US" sz="3200" dirty="0"/>
          </a:p>
        </p:txBody>
      </p:sp>
      <p:pic>
        <p:nvPicPr>
          <p:cNvPr id="6" name="Image 1" descr="preencoded.png">
            <a:extLst>
              <a:ext uri="{FF2B5EF4-FFF2-40B4-BE49-F238E27FC236}">
                <a16:creationId xmlns:a16="http://schemas.microsoft.com/office/drawing/2014/main" id="{4BCED8AD-AB74-C626-F95C-613C1A2ACF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486" y="1990169"/>
            <a:ext cx="6649635" cy="4105831"/>
          </a:xfrm>
          <a:prstGeom prst="rect">
            <a:avLst/>
          </a:prstGeom>
        </p:spPr>
      </p:pic>
      <p:sp>
        <p:nvSpPr>
          <p:cNvPr id="8" name="Text 4">
            <a:extLst>
              <a:ext uri="{FF2B5EF4-FFF2-40B4-BE49-F238E27FC236}">
                <a16:creationId xmlns:a16="http://schemas.microsoft.com/office/drawing/2014/main" id="{39C17C09-8528-5C5B-21F8-6DD8E40012FC}"/>
              </a:ext>
            </a:extLst>
          </p:cNvPr>
          <p:cNvSpPr/>
          <p:nvPr/>
        </p:nvSpPr>
        <p:spPr>
          <a:xfrm>
            <a:off x="7815262" y="1959514"/>
            <a:ext cx="4126944" cy="4362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b="1" dirty="0"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Strong Growth</a:t>
            </a:r>
            <a:endParaRPr lang="en-US" sz="2400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C1260ACE-BD38-6DB9-B568-28A7F0B3DD21}"/>
              </a:ext>
            </a:extLst>
          </p:cNvPr>
          <p:cNvSpPr/>
          <p:nvPr/>
        </p:nvSpPr>
        <p:spPr>
          <a:xfrm>
            <a:off x="7815262" y="2600612"/>
            <a:ext cx="3623882" cy="3086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Year-wise revenue analysis shows that 2018 was the strongest performing year, generating a total revenue of 8,643,698.</a:t>
            </a:r>
          </a:p>
          <a:p>
            <a:pPr marL="285750" indent="-285750" algn="l">
              <a:lnSpc>
                <a:spcPts val="2400"/>
              </a:lnSpc>
              <a:buFont typeface="Arial" panose="020B0604020202020204" pitchFamily="34" charset="0"/>
              <a:buChar char="•"/>
            </a:pPr>
            <a:endParaRPr lang="en-US" sz="1600" dirty="0">
              <a:latin typeface="Inconsolata" pitchFamily="34" charset="0"/>
              <a:ea typeface="Inconsolata" pitchFamily="34" charset="-122"/>
            </a:endParaRPr>
          </a:p>
          <a:p>
            <a:pPr marL="285750" indent="-285750" algn="l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The revenue trend closely aligns with order growth, reinforcing volume-driven revenue expansion.</a:t>
            </a:r>
          </a:p>
        </p:txBody>
      </p:sp>
    </p:spTree>
    <p:extLst>
      <p:ext uri="{BB962C8B-B14F-4D97-AF65-F5344CB8AC3E}">
        <p14:creationId xmlns:p14="http://schemas.microsoft.com/office/powerpoint/2010/main" val="19365592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534E031-B189-CE48-3D9D-83ED6F964020}"/>
              </a:ext>
            </a:extLst>
          </p:cNvPr>
          <p:cNvSpPr/>
          <p:nvPr/>
        </p:nvSpPr>
        <p:spPr>
          <a:xfrm>
            <a:off x="473750" y="276320"/>
            <a:ext cx="1892379" cy="385882"/>
          </a:xfrm>
          <a:prstGeom prst="roundRect">
            <a:avLst>
              <a:gd name="adj" fmla="val 2370"/>
            </a:avLst>
          </a:prstGeom>
          <a:noFill/>
          <a:ln w="7620">
            <a:solidFill>
              <a:srgbClr val="151617"/>
            </a:solidFill>
            <a:prstDash val="solid"/>
          </a:ln>
        </p:spPr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1B89B9F0-BEA2-189C-1A10-3615F3FA80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3766" y="387644"/>
            <a:ext cx="163235" cy="163235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57C6BF68-7E92-BDB9-B3ED-F22E057D27CC}"/>
              </a:ext>
            </a:extLst>
          </p:cNvPr>
          <p:cNvSpPr/>
          <p:nvPr/>
        </p:nvSpPr>
        <p:spPr>
          <a:xfrm>
            <a:off x="848558" y="345138"/>
            <a:ext cx="1387554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CUSTOMER INSIGHTS</a:t>
            </a:r>
            <a:endParaRPr lang="en-US" sz="125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E42D314E-9834-A930-A253-ACF7D6AD023A}"/>
              </a:ext>
            </a:extLst>
          </p:cNvPr>
          <p:cNvSpPr/>
          <p:nvPr/>
        </p:nvSpPr>
        <p:spPr>
          <a:xfrm>
            <a:off x="473750" y="735663"/>
            <a:ext cx="6879908" cy="637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3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Customer Value Analysis</a:t>
            </a:r>
            <a:endParaRPr lang="en-US" sz="3200" dirty="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650C7D24-9CF3-8B62-CC15-3EAF1FBC0DFC}"/>
              </a:ext>
            </a:extLst>
          </p:cNvPr>
          <p:cNvSpPr/>
          <p:nvPr/>
        </p:nvSpPr>
        <p:spPr>
          <a:xfrm>
            <a:off x="473750" y="1447943"/>
            <a:ext cx="4535091" cy="5133737"/>
          </a:xfrm>
          <a:prstGeom prst="roundRect">
            <a:avLst>
              <a:gd name="adj" fmla="val 202"/>
            </a:avLst>
          </a:prstGeom>
          <a:solidFill>
            <a:srgbClr val="F2DED0"/>
          </a:solidFill>
          <a:ln/>
        </p:spPr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7CB61A67-B689-7B09-D6F2-828DE518CAB6}"/>
              </a:ext>
            </a:extLst>
          </p:cNvPr>
          <p:cNvSpPr/>
          <p:nvPr/>
        </p:nvSpPr>
        <p:spPr>
          <a:xfrm>
            <a:off x="677823" y="1631656"/>
            <a:ext cx="4126944" cy="7655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High Value order Customer</a:t>
            </a:r>
            <a:endParaRPr lang="en-US" sz="24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B81EDD51-3D18-2BDF-7ECB-BD3B29093005}"/>
              </a:ext>
            </a:extLst>
          </p:cNvPr>
          <p:cNvSpPr/>
          <p:nvPr/>
        </p:nvSpPr>
        <p:spPr>
          <a:xfrm>
            <a:off x="677823" y="2580942"/>
            <a:ext cx="4126944" cy="1861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Our analysis reveals that 10 top customers who places the higher value order indicating the customer who spent high amount.</a:t>
            </a:r>
            <a:endParaRPr lang="en-US" sz="16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0C722445-86B1-3009-AC78-7A19305A637F}"/>
              </a:ext>
            </a:extLst>
          </p:cNvPr>
          <p:cNvSpPr/>
          <p:nvPr/>
        </p:nvSpPr>
        <p:spPr>
          <a:xfrm>
            <a:off x="677823" y="4607862"/>
            <a:ext cx="4126944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Actionable Opportunities:</a:t>
            </a:r>
            <a:endParaRPr lang="en-US" sz="16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4250B8E2-F170-119F-7578-C1E0BF018C67}"/>
              </a:ext>
            </a:extLst>
          </p:cNvPr>
          <p:cNvSpPr/>
          <p:nvPr/>
        </p:nvSpPr>
        <p:spPr>
          <a:xfrm>
            <a:off x="677823" y="5083397"/>
            <a:ext cx="4126944" cy="1241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Targeting more similar customers</a:t>
            </a:r>
            <a:endParaRPr lang="en-US" sz="1600" dirty="0"/>
          </a:p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</a:rPr>
              <a:t>Add the valuable and most selling products</a:t>
            </a:r>
            <a:endParaRPr lang="en-US" sz="1600" dirty="0"/>
          </a:p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Help managing the product pricing</a:t>
            </a:r>
            <a:endParaRPr lang="en-US" sz="1600" dirty="0"/>
          </a:p>
        </p:txBody>
      </p:sp>
      <p:pic>
        <p:nvPicPr>
          <p:cNvPr id="11" name="Image 1" descr="preencoded.png">
            <a:extLst>
              <a:ext uri="{FF2B5EF4-FFF2-40B4-BE49-F238E27FC236}">
                <a16:creationId xmlns:a16="http://schemas.microsoft.com/office/drawing/2014/main" id="{35AAD6E3-3513-1245-06E0-E22F4947A3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2664" y="1631656"/>
            <a:ext cx="6552533" cy="4421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3828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60CEA3-7A83-9F9A-F225-7ADFAE3D4F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B00B3C5-6011-E3FF-ED32-EB2B3614BF52}"/>
              </a:ext>
            </a:extLst>
          </p:cNvPr>
          <p:cNvSpPr/>
          <p:nvPr/>
        </p:nvSpPr>
        <p:spPr>
          <a:xfrm>
            <a:off x="473750" y="276320"/>
            <a:ext cx="1892379" cy="385882"/>
          </a:xfrm>
          <a:prstGeom prst="roundRect">
            <a:avLst>
              <a:gd name="adj" fmla="val 2370"/>
            </a:avLst>
          </a:prstGeom>
          <a:noFill/>
          <a:ln w="7620">
            <a:solidFill>
              <a:srgbClr val="151617"/>
            </a:solidFill>
            <a:prstDash val="solid"/>
          </a:ln>
        </p:spPr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32DE86ED-C1BD-3E7A-E39C-5701028935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3766" y="387644"/>
            <a:ext cx="163235" cy="163235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7C0D63D9-2996-FBC2-4702-D1BF97A95E38}"/>
              </a:ext>
            </a:extLst>
          </p:cNvPr>
          <p:cNvSpPr/>
          <p:nvPr/>
        </p:nvSpPr>
        <p:spPr>
          <a:xfrm>
            <a:off x="848558" y="345138"/>
            <a:ext cx="1387554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CUSTOMER INSIGHTS</a:t>
            </a:r>
            <a:endParaRPr lang="en-US" sz="125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E72E5B5C-0E96-2D92-F35D-E41D9E25ED85}"/>
              </a:ext>
            </a:extLst>
          </p:cNvPr>
          <p:cNvSpPr/>
          <p:nvPr/>
        </p:nvSpPr>
        <p:spPr>
          <a:xfrm>
            <a:off x="473750" y="735663"/>
            <a:ext cx="6879908" cy="637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3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Customer Retention Analysis</a:t>
            </a:r>
            <a:endParaRPr lang="en-US" sz="32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F4878603-F08E-D19A-D039-4E2C8DFB90CB}"/>
              </a:ext>
            </a:extLst>
          </p:cNvPr>
          <p:cNvSpPr/>
          <p:nvPr/>
        </p:nvSpPr>
        <p:spPr>
          <a:xfrm>
            <a:off x="473750" y="2279190"/>
            <a:ext cx="7563826" cy="3600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The dataset assigns a unique customer ID to every order, resulting in no identifiable repeat customers.</a:t>
            </a:r>
          </a:p>
          <a:p>
            <a:pPr marL="285750" indent="-285750" algn="l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As a result, the calculated customer retention rate is 0%.</a:t>
            </a:r>
          </a:p>
          <a:p>
            <a:pPr marL="285750" indent="-285750" algn="l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This highlights a data limitation, making retention analysis inconclusive rather than negative.</a:t>
            </a:r>
          </a:p>
          <a:p>
            <a:pPr marL="285750" indent="-285750" algn="l">
              <a:lnSpc>
                <a:spcPts val="2400"/>
              </a:lnSpc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pic>
        <p:nvPicPr>
          <p:cNvPr id="14" name="Picture 13" descr="Analysis - Free seo and web icons">
            <a:extLst>
              <a:ext uri="{FF2B5EF4-FFF2-40B4-BE49-F238E27FC236}">
                <a16:creationId xmlns:a16="http://schemas.microsoft.com/office/drawing/2014/main" id="{47E45EAE-8882-220B-8632-1111AC7614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5622" y="1881378"/>
            <a:ext cx="2887218" cy="2887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81730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4E145CB-3F8E-CD89-5758-FCBE5B2B926E}"/>
              </a:ext>
            </a:extLst>
          </p:cNvPr>
          <p:cNvSpPr/>
          <p:nvPr/>
        </p:nvSpPr>
        <p:spPr>
          <a:xfrm>
            <a:off x="589764" y="246483"/>
            <a:ext cx="6378297" cy="6001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Order Value Distribution</a:t>
            </a:r>
            <a:endParaRPr lang="en-US" sz="3200" dirty="0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6CEE5421-C677-BB96-DF69-E496C17AB9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375" y="1100875"/>
            <a:ext cx="6024136" cy="3603687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74F2C0AA-D360-4262-9023-0EE4341EF1B9}"/>
              </a:ext>
            </a:extLst>
          </p:cNvPr>
          <p:cNvSpPr/>
          <p:nvPr/>
        </p:nvSpPr>
        <p:spPr>
          <a:xfrm>
            <a:off x="6649426" y="965383"/>
            <a:ext cx="4262318" cy="470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Order Volume Trends</a:t>
            </a:r>
            <a:endParaRPr lang="en-US" sz="225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E4D68A2A-62C6-82C2-EF75-55061B1746B3}"/>
              </a:ext>
            </a:extLst>
          </p:cNvPr>
          <p:cNvSpPr/>
          <p:nvPr/>
        </p:nvSpPr>
        <p:spPr>
          <a:xfrm>
            <a:off x="6649426" y="1554314"/>
            <a:ext cx="4497110" cy="3150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ts val="22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151617"/>
                </a:solidFill>
                <a:latin typeface="Inconsolata" pitchFamily="1" charset="0"/>
                <a:ea typeface="Inconsolata" pitchFamily="1" charset="0"/>
                <a:cs typeface="Inconsolata" pitchFamily="34" charset="-120"/>
              </a:rPr>
              <a:t>Across 2016, 2017, and 2018, the platform received a total of 99,441 orders.</a:t>
            </a:r>
          </a:p>
          <a:p>
            <a:pPr marL="285750" indent="-285750" algn="l">
              <a:lnSpc>
                <a:spcPts val="22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151617"/>
                </a:solidFill>
                <a:latin typeface="Inconsolata" pitchFamily="1" charset="0"/>
                <a:ea typeface="Inconsolata" pitchFamily="1" charset="0"/>
              </a:rPr>
              <a:t>Year-wise breakdown:</a:t>
            </a:r>
          </a:p>
          <a:p>
            <a:pPr marL="742950" lvl="1" indent="-285750">
              <a:lnSpc>
                <a:spcPts val="22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151617"/>
                </a:solidFill>
                <a:latin typeface="Inconsolata" pitchFamily="1" charset="0"/>
                <a:ea typeface="Inconsolata" pitchFamily="1" charset="0"/>
              </a:rPr>
              <a:t>2016: 329 orders</a:t>
            </a:r>
          </a:p>
          <a:p>
            <a:pPr marL="742950" lvl="1" indent="-285750">
              <a:lnSpc>
                <a:spcPts val="22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151617"/>
                </a:solidFill>
                <a:latin typeface="Inconsolata" pitchFamily="1" charset="0"/>
                <a:ea typeface="Inconsolata" pitchFamily="1" charset="0"/>
              </a:rPr>
              <a:t>2017: 45,101 orders</a:t>
            </a:r>
          </a:p>
          <a:p>
            <a:pPr marL="742950" lvl="1" indent="-285750">
              <a:lnSpc>
                <a:spcPts val="22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151617"/>
                </a:solidFill>
                <a:latin typeface="Inconsolata" pitchFamily="1" charset="0"/>
                <a:ea typeface="Inconsolata" pitchFamily="1" charset="0"/>
              </a:rPr>
              <a:t>2018: 54,011 orders</a:t>
            </a:r>
          </a:p>
          <a:p>
            <a:pPr marL="285750" indent="-285750">
              <a:lnSpc>
                <a:spcPts val="22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Inconsolata" pitchFamily="1" charset="0"/>
                <a:ea typeface="Inconsolata" pitchFamily="1" charset="0"/>
              </a:rPr>
              <a:t>Although </a:t>
            </a:r>
            <a:r>
              <a:rPr lang="en-US" sz="1600" b="1" dirty="0">
                <a:latin typeface="Inconsolata" pitchFamily="1" charset="0"/>
                <a:ea typeface="Inconsolata" pitchFamily="1" charset="0"/>
              </a:rPr>
              <a:t>2018 recorded the highest number of orders</a:t>
            </a:r>
            <a:r>
              <a:rPr lang="en-US" sz="1600" dirty="0">
                <a:latin typeface="Inconsolata" pitchFamily="1" charset="0"/>
                <a:ea typeface="Inconsolata" pitchFamily="1" charset="0"/>
              </a:rPr>
              <a:t>, the increase from 2017 is </a:t>
            </a:r>
            <a:r>
              <a:rPr lang="en-US" sz="1600" b="1" dirty="0">
                <a:latin typeface="Inconsolata" pitchFamily="1" charset="0"/>
                <a:ea typeface="Inconsolata" pitchFamily="1" charset="0"/>
              </a:rPr>
              <a:t>incremental rather than exponential</a:t>
            </a:r>
            <a:r>
              <a:rPr lang="en-US" sz="1600" dirty="0">
                <a:latin typeface="Inconsolata" pitchFamily="1" charset="0"/>
                <a:ea typeface="Inconsolata" pitchFamily="1" charset="0"/>
              </a:rPr>
              <a:t>, indicating </a:t>
            </a:r>
            <a:r>
              <a:rPr lang="en-US" sz="1600" b="1" dirty="0">
                <a:latin typeface="Inconsolata" pitchFamily="1" charset="0"/>
                <a:ea typeface="Inconsolata" pitchFamily="1" charset="0"/>
              </a:rPr>
              <a:t>steady and sustainable growth</a:t>
            </a:r>
            <a:r>
              <a:rPr lang="en-US" sz="1600" dirty="0">
                <a:latin typeface="Inconsolata" pitchFamily="1" charset="0"/>
                <a:ea typeface="Inconsolata" pitchFamily="1" charset="0"/>
              </a:rPr>
              <a:t> rather than a sudden spike.</a:t>
            </a:r>
            <a:endParaRPr lang="en-US" sz="1500" dirty="0">
              <a:latin typeface="Inconsolata" pitchFamily="1" charset="0"/>
              <a:ea typeface="Inconsolata" pitchFamily="1" charset="0"/>
            </a:endParaRPr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D17640FD-FF38-82EE-0381-A65E76F55AE6}"/>
              </a:ext>
            </a:extLst>
          </p:cNvPr>
          <p:cNvSpPr/>
          <p:nvPr/>
        </p:nvSpPr>
        <p:spPr>
          <a:xfrm>
            <a:off x="362473" y="5001744"/>
            <a:ext cx="5481233" cy="1364456"/>
          </a:xfrm>
          <a:prstGeom prst="roundRect">
            <a:avLst>
              <a:gd name="adj" fmla="val 670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  <a:effectLst>
            <a:outerShdw dist="1778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A2C51288-D5A8-F1C0-D3F4-A70A98AF0673}"/>
              </a:ext>
            </a:extLst>
          </p:cNvPr>
          <p:cNvSpPr/>
          <p:nvPr/>
        </p:nvSpPr>
        <p:spPr>
          <a:xfrm>
            <a:off x="562141" y="5201411"/>
            <a:ext cx="2401133" cy="300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Volume Driver</a:t>
            </a:r>
            <a:endParaRPr lang="en-US" sz="185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046441FE-0C8C-FB5E-1351-962633202465}"/>
              </a:ext>
            </a:extLst>
          </p:cNvPr>
          <p:cNvSpPr/>
          <p:nvPr/>
        </p:nvSpPr>
        <p:spPr>
          <a:xfrm>
            <a:off x="562141" y="5599080"/>
            <a:ext cx="5180291" cy="597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Most orders are modest in value but high in frequency</a:t>
            </a:r>
            <a:endParaRPr lang="en-US" sz="1500" dirty="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5D396CCF-3011-8533-D651-8971534CF14D}"/>
              </a:ext>
            </a:extLst>
          </p:cNvPr>
          <p:cNvSpPr/>
          <p:nvPr/>
        </p:nvSpPr>
        <p:spPr>
          <a:xfrm>
            <a:off x="6007608" y="5001744"/>
            <a:ext cx="5821919" cy="1364456"/>
          </a:xfrm>
          <a:prstGeom prst="roundRect">
            <a:avLst>
              <a:gd name="adj" fmla="val 670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  <a:effectLst>
            <a:outerShdw dist="1778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E496CA64-8481-A081-1137-B07FA4B3A49B}"/>
              </a:ext>
            </a:extLst>
          </p:cNvPr>
          <p:cNvSpPr/>
          <p:nvPr/>
        </p:nvSpPr>
        <p:spPr>
          <a:xfrm>
            <a:off x="6198464" y="5201410"/>
            <a:ext cx="2401133" cy="300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Revenue Outliers</a:t>
            </a:r>
            <a:endParaRPr lang="en-US" sz="185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B481425F-286B-184B-C1BC-C330E0B7DDFC}"/>
              </a:ext>
            </a:extLst>
          </p:cNvPr>
          <p:cNvSpPr/>
          <p:nvPr/>
        </p:nvSpPr>
        <p:spPr>
          <a:xfrm>
            <a:off x="6207275" y="5501567"/>
            <a:ext cx="5497045" cy="56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Few high-value transactions contribute significantly to total revenue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31665405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65DEA77-8FB3-A161-B6E8-DBD9480BD7B7}"/>
              </a:ext>
            </a:extLst>
          </p:cNvPr>
          <p:cNvSpPr/>
          <p:nvPr/>
        </p:nvSpPr>
        <p:spPr>
          <a:xfrm>
            <a:off x="528614" y="426244"/>
            <a:ext cx="1596390" cy="317778"/>
          </a:xfrm>
          <a:prstGeom prst="roundRect">
            <a:avLst>
              <a:gd name="adj" fmla="val 2877"/>
            </a:avLst>
          </a:prstGeom>
          <a:solidFill>
            <a:srgbClr val="E4E6E7"/>
          </a:solidFill>
          <a:ln/>
        </p:spPr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41294292-2A18-2320-95C1-60EEE89FA3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7437" y="512564"/>
            <a:ext cx="145137" cy="145137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3A7EB289-EC8C-0C83-6C79-B568F8BEECDC}"/>
              </a:ext>
            </a:extLst>
          </p:cNvPr>
          <p:cNvSpPr/>
          <p:nvPr/>
        </p:nvSpPr>
        <p:spPr>
          <a:xfrm>
            <a:off x="855083" y="480656"/>
            <a:ext cx="1161098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PRICING STRATEGY</a:t>
            </a:r>
            <a:endParaRPr lang="en-US" sz="11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F49912A1-AF35-B4E1-83FF-F6063BE9F4D7}"/>
              </a:ext>
            </a:extLst>
          </p:cNvPr>
          <p:cNvSpPr/>
          <p:nvPr/>
        </p:nvSpPr>
        <p:spPr>
          <a:xfrm>
            <a:off x="528614" y="802005"/>
            <a:ext cx="78843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Pricing vs Demand Relationship</a:t>
            </a:r>
            <a:endParaRPr lang="en-US" sz="3200" dirty="0"/>
          </a:p>
        </p:txBody>
      </p:sp>
      <p:pic>
        <p:nvPicPr>
          <p:cNvPr id="6" name="Image 1" descr="preencoded.png">
            <a:extLst>
              <a:ext uri="{FF2B5EF4-FFF2-40B4-BE49-F238E27FC236}">
                <a16:creationId xmlns:a16="http://schemas.microsoft.com/office/drawing/2014/main" id="{5524DF15-1D50-292A-0520-FE14DC43E7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614" y="1426964"/>
            <a:ext cx="6658213" cy="3795713"/>
          </a:xfrm>
          <a:prstGeom prst="rect">
            <a:avLst/>
          </a:prstGeom>
        </p:spPr>
      </p:pic>
      <p:sp>
        <p:nvSpPr>
          <p:cNvPr id="7" name="Text 3">
            <a:extLst>
              <a:ext uri="{FF2B5EF4-FFF2-40B4-BE49-F238E27FC236}">
                <a16:creationId xmlns:a16="http://schemas.microsoft.com/office/drawing/2014/main" id="{F4944D65-C03A-AC23-9071-A36AC7F4D3CF}"/>
              </a:ext>
            </a:extLst>
          </p:cNvPr>
          <p:cNvSpPr/>
          <p:nvPr/>
        </p:nvSpPr>
        <p:spPr>
          <a:xfrm>
            <a:off x="7387709" y="1852577"/>
            <a:ext cx="3300413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Classic Demand Curve</a:t>
            </a:r>
            <a:endParaRPr lang="en-US" sz="2100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71522260-8E28-02F4-DEF5-76CD2373DB5F}"/>
              </a:ext>
            </a:extLst>
          </p:cNvPr>
          <p:cNvSpPr/>
          <p:nvPr/>
        </p:nvSpPr>
        <p:spPr>
          <a:xfrm>
            <a:off x="7387709" y="2337876"/>
            <a:ext cx="4277201" cy="7836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Our analysis confirms an inverse relationship between price and demand, consistent with fundamental economic principles.</a:t>
            </a:r>
            <a:endParaRPr lang="en-US" sz="1400" dirty="0"/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4C35228E-7069-C3AE-5F66-037B316D2DF3}"/>
              </a:ext>
            </a:extLst>
          </p:cNvPr>
          <p:cNvSpPr/>
          <p:nvPr/>
        </p:nvSpPr>
        <p:spPr>
          <a:xfrm>
            <a:off x="391454" y="5280660"/>
            <a:ext cx="5433274" cy="1301591"/>
          </a:xfrm>
          <a:prstGeom prst="roundRect">
            <a:avLst>
              <a:gd name="adj" fmla="val 703"/>
            </a:avLst>
          </a:prstGeom>
          <a:solidFill>
            <a:srgbClr val="F8ECE4"/>
          </a:solidFill>
          <a:ln w="22860">
            <a:solidFill>
              <a:srgbClr val="151617"/>
            </a:solidFill>
            <a:prstDash val="solid"/>
          </a:ln>
          <a:effectLst>
            <a:outerShdw dist="1651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54D8348B-3470-1484-5521-7627A8221584}"/>
              </a:ext>
            </a:extLst>
          </p:cNvPr>
          <p:cNvSpPr/>
          <p:nvPr/>
        </p:nvSpPr>
        <p:spPr>
          <a:xfrm>
            <a:off x="595765" y="5484971"/>
            <a:ext cx="1911071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Volume Products</a:t>
            </a:r>
            <a:endParaRPr lang="en-US" sz="1750" dirty="0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94D24073-F5E0-CE43-A940-FE1199E49DB8}"/>
              </a:ext>
            </a:extLst>
          </p:cNvPr>
          <p:cNvSpPr/>
          <p:nvPr/>
        </p:nvSpPr>
        <p:spPr>
          <a:xfrm>
            <a:off x="595765" y="5855493"/>
            <a:ext cx="5027795" cy="576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Low-priced items drive transaction volume and customer </a:t>
            </a:r>
          </a:p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acquisition</a:t>
            </a:r>
            <a:endParaRPr lang="en-US" sz="1400" dirty="0"/>
          </a:p>
        </p:txBody>
      </p:sp>
      <p:sp>
        <p:nvSpPr>
          <p:cNvPr id="12" name="Shape 8">
            <a:extLst>
              <a:ext uri="{FF2B5EF4-FFF2-40B4-BE49-F238E27FC236}">
                <a16:creationId xmlns:a16="http://schemas.microsoft.com/office/drawing/2014/main" id="{7100BCA5-2DC5-6604-7DFF-5688A209C00C}"/>
              </a:ext>
            </a:extLst>
          </p:cNvPr>
          <p:cNvSpPr/>
          <p:nvPr/>
        </p:nvSpPr>
        <p:spPr>
          <a:xfrm>
            <a:off x="6354438" y="5280660"/>
            <a:ext cx="5433374" cy="1301591"/>
          </a:xfrm>
          <a:prstGeom prst="roundRect">
            <a:avLst>
              <a:gd name="adj" fmla="val 703"/>
            </a:avLst>
          </a:prstGeom>
          <a:solidFill>
            <a:srgbClr val="F8ECE4"/>
          </a:solidFill>
          <a:ln w="22860">
            <a:solidFill>
              <a:srgbClr val="151617"/>
            </a:solidFill>
            <a:prstDash val="solid"/>
          </a:ln>
          <a:effectLst>
            <a:outerShdw dist="1651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B56DC21D-61AA-279A-1F71-6A6662BB3A58}"/>
              </a:ext>
            </a:extLst>
          </p:cNvPr>
          <p:cNvSpPr/>
          <p:nvPr/>
        </p:nvSpPr>
        <p:spPr>
          <a:xfrm>
            <a:off x="6558749" y="5484971"/>
            <a:ext cx="193614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Premium Segment</a:t>
            </a:r>
            <a:endParaRPr lang="en-US" sz="1750" dirty="0"/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2FCEA4A5-0777-5DB3-6802-8C286FF501BF}"/>
              </a:ext>
            </a:extLst>
          </p:cNvPr>
          <p:cNvSpPr/>
          <p:nvPr/>
        </p:nvSpPr>
        <p:spPr>
          <a:xfrm>
            <a:off x="6558748" y="5855493"/>
            <a:ext cx="5089099" cy="522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High-priced products serve niche markets with lower velocity but higher margins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4171260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47E1A2-1F71-C293-9B51-36EEE19878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>
            <a:extLst>
              <a:ext uri="{FF2B5EF4-FFF2-40B4-BE49-F238E27FC236}">
                <a16:creationId xmlns:a16="http://schemas.microsoft.com/office/drawing/2014/main" id="{CD02DFF4-3E9C-503E-7234-366138E0CA62}"/>
              </a:ext>
            </a:extLst>
          </p:cNvPr>
          <p:cNvSpPr/>
          <p:nvPr/>
        </p:nvSpPr>
        <p:spPr>
          <a:xfrm>
            <a:off x="473750" y="735663"/>
            <a:ext cx="6879908" cy="637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3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High-Value Product Insight</a:t>
            </a:r>
            <a:endParaRPr lang="en-US" sz="32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E806F6C9-C7C7-D4E1-60B8-686780CD7DE0}"/>
              </a:ext>
            </a:extLst>
          </p:cNvPr>
          <p:cNvSpPr/>
          <p:nvPr/>
        </p:nvSpPr>
        <p:spPr>
          <a:xfrm>
            <a:off x="473750" y="2279190"/>
            <a:ext cx="7563826" cy="3600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Housewares emerged as the most expensive product category.</a:t>
            </a:r>
          </a:p>
          <a:p>
            <a:pPr marL="285750" indent="-285750" algn="l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Despite higher pricing, it recorded a substantial total quantity sold of 6,795 units, highlighting strong demand even at premium price points.</a:t>
            </a:r>
          </a:p>
          <a:p>
            <a:pPr marL="285750" indent="-285750" algn="l">
              <a:lnSpc>
                <a:spcPts val="2400"/>
              </a:lnSpc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pic>
        <p:nvPicPr>
          <p:cNvPr id="14" name="Picture 13" descr="Analysis - Free seo and web icons">
            <a:extLst>
              <a:ext uri="{FF2B5EF4-FFF2-40B4-BE49-F238E27FC236}">
                <a16:creationId xmlns:a16="http://schemas.microsoft.com/office/drawing/2014/main" id="{B513AA67-249D-11A1-10B3-A9805EE867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5622" y="1881378"/>
            <a:ext cx="2887218" cy="2887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8905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FA6910-624D-5A74-951A-9E06064B6C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>
            <a:extLst>
              <a:ext uri="{FF2B5EF4-FFF2-40B4-BE49-F238E27FC236}">
                <a16:creationId xmlns:a16="http://schemas.microsoft.com/office/drawing/2014/main" id="{F54C7C4C-AA9B-B887-EE23-7556FEFBA99E}"/>
              </a:ext>
            </a:extLst>
          </p:cNvPr>
          <p:cNvSpPr/>
          <p:nvPr/>
        </p:nvSpPr>
        <p:spPr>
          <a:xfrm>
            <a:off x="473750" y="735663"/>
            <a:ext cx="6879908" cy="637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3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Seller Performance</a:t>
            </a:r>
            <a:endParaRPr lang="en-US" sz="3200" dirty="0"/>
          </a:p>
        </p:txBody>
      </p:sp>
      <p:pic>
        <p:nvPicPr>
          <p:cNvPr id="3074" name="Picture 2" descr="Performance Generic Flat icon | Freepik">
            <a:extLst>
              <a:ext uri="{FF2B5EF4-FFF2-40B4-BE49-F238E27FC236}">
                <a16:creationId xmlns:a16="http://schemas.microsoft.com/office/drawing/2014/main" id="{7AAC6563-52FE-C682-82CD-614CE557E2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7356" y="1277969"/>
            <a:ext cx="4302062" cy="43020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 5">
            <a:extLst>
              <a:ext uri="{FF2B5EF4-FFF2-40B4-BE49-F238E27FC236}">
                <a16:creationId xmlns:a16="http://schemas.microsoft.com/office/drawing/2014/main" id="{E35D0335-EC21-B61E-4B1A-9A83EA86FD75}"/>
              </a:ext>
            </a:extLst>
          </p:cNvPr>
          <p:cNvSpPr/>
          <p:nvPr/>
        </p:nvSpPr>
        <p:spPr>
          <a:xfrm>
            <a:off x="373166" y="2151174"/>
            <a:ext cx="7563826" cy="3600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The marketplace consists of 3,095 active sellers.</a:t>
            </a:r>
          </a:p>
          <a:p>
            <a:pPr marL="285750" indent="-285750" algn="l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The top-performing seller (4869f7a5dfa277a7dca6462dcf3b52b2) completed:</a:t>
            </a:r>
          </a:p>
          <a:p>
            <a:pPr marL="742950" lvl="1" indent="-285750">
              <a:lnSpc>
                <a:spcPts val="2400"/>
              </a:lnSpc>
              <a:buFont typeface="Wingdings" panose="05000000000000000000" pitchFamily="2" charset="2"/>
              <a:buChar char="q"/>
            </a:pPr>
            <a:r>
              <a:rPr lang="en-US" sz="160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1,124</a:t>
            </a:r>
            <a:r>
              <a:rPr lang="en-US" sz="1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orders</a:t>
            </a:r>
          </a:p>
          <a:p>
            <a:pPr marL="742950" lvl="1" indent="-285750">
              <a:lnSpc>
                <a:spcPts val="2400"/>
              </a:lnSpc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Generated </a:t>
            </a:r>
            <a:r>
              <a:rPr lang="en-US" sz="160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226,987</a:t>
            </a:r>
            <a:r>
              <a:rPr lang="en-US" sz="1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in revenue, making it the highest-volume seller.</a:t>
            </a:r>
          </a:p>
          <a:p>
            <a:pPr marL="285750" indent="-285750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The second-highest seller (53243585a1d6dc2643021fd1853d8905) delivered:</a:t>
            </a:r>
          </a:p>
          <a:p>
            <a:pPr marL="742950" lvl="1" indent="-285750">
              <a:lnSpc>
                <a:spcPts val="2400"/>
              </a:lnSpc>
              <a:buFont typeface="Wingdings" panose="05000000000000000000" pitchFamily="2" charset="2"/>
              <a:buChar char="q"/>
            </a:pPr>
            <a:r>
              <a:rPr lang="en-US" sz="160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348</a:t>
            </a:r>
            <a:r>
              <a:rPr lang="en-US" sz="1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orders </a:t>
            </a:r>
          </a:p>
          <a:p>
            <a:pPr marL="742950" lvl="1" indent="-285750">
              <a:lnSpc>
                <a:spcPts val="2400"/>
              </a:lnSpc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Generated </a:t>
            </a:r>
            <a:r>
              <a:rPr lang="en-US" sz="160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217,940</a:t>
            </a:r>
            <a:r>
              <a:rPr lang="en-US" sz="1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in revenue, indicating a high average order value and sale of premium-priced items.</a:t>
            </a:r>
          </a:p>
          <a:p>
            <a:pPr marL="285750" indent="-285750" algn="l">
              <a:lnSpc>
                <a:spcPts val="2400"/>
              </a:lnSpc>
              <a:buFont typeface="Arial" panose="020B0604020202020204" pitchFamily="34" charset="0"/>
              <a:buChar char="•"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5985935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1CEE202-EF0F-4651-5E5A-7B4ECEF253FA}"/>
              </a:ext>
            </a:extLst>
          </p:cNvPr>
          <p:cNvSpPr/>
          <p:nvPr/>
        </p:nvSpPr>
        <p:spPr>
          <a:xfrm>
            <a:off x="354878" y="195667"/>
            <a:ext cx="847177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36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Key Cross-Analysis Insights</a:t>
            </a:r>
            <a:endParaRPr lang="en-US" sz="3600" dirty="0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99F18EF9-8AF4-1DFF-18D4-DD8ECEE296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1250513"/>
            <a:ext cx="1767840" cy="176784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EF687C95-A58F-1274-2B3A-8B2C7CF74C3F}"/>
              </a:ext>
            </a:extLst>
          </p:cNvPr>
          <p:cNvSpPr/>
          <p:nvPr/>
        </p:nvSpPr>
        <p:spPr>
          <a:xfrm>
            <a:off x="620054" y="3130988"/>
            <a:ext cx="2616922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Revenue Growth</a:t>
            </a:r>
            <a:endParaRPr lang="en-US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620C7D13-1EB5-842C-C9E8-4428D1CE044B}"/>
              </a:ext>
            </a:extLst>
          </p:cNvPr>
          <p:cNvSpPr/>
          <p:nvPr/>
        </p:nvSpPr>
        <p:spPr>
          <a:xfrm>
            <a:off x="620054" y="3614451"/>
            <a:ext cx="2616922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Consistent year-over-year revenue growth indicates strong platform adoption, increasing order volume, and sustained business expansion</a:t>
            </a:r>
            <a:endParaRPr lang="en-US" sz="1400" dirty="0"/>
          </a:p>
        </p:txBody>
      </p:sp>
      <p:pic>
        <p:nvPicPr>
          <p:cNvPr id="6" name="Image 1" descr="preencoded.png">
            <a:extLst>
              <a:ext uri="{FF2B5EF4-FFF2-40B4-BE49-F238E27FC236}">
                <a16:creationId xmlns:a16="http://schemas.microsoft.com/office/drawing/2014/main" id="{605D5AD1-A9A3-0186-F058-11FD277B38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5404" y="1248370"/>
            <a:ext cx="1767840" cy="1767840"/>
          </a:xfrm>
          <a:prstGeom prst="rect">
            <a:avLst/>
          </a:prstGeom>
        </p:spPr>
      </p:pic>
      <p:sp>
        <p:nvSpPr>
          <p:cNvPr id="7" name="Text 3">
            <a:extLst>
              <a:ext uri="{FF2B5EF4-FFF2-40B4-BE49-F238E27FC236}">
                <a16:creationId xmlns:a16="http://schemas.microsoft.com/office/drawing/2014/main" id="{F91A4D19-9EFA-06DD-C4D1-6747A37DA717}"/>
              </a:ext>
            </a:extLst>
          </p:cNvPr>
          <p:cNvSpPr/>
          <p:nvPr/>
        </p:nvSpPr>
        <p:spPr>
          <a:xfrm>
            <a:off x="3540062" y="3131845"/>
            <a:ext cx="304811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Customer Spending</a:t>
            </a:r>
            <a:endParaRPr lang="en-US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389E0F59-2E87-D0AF-9924-9FBA308C5C24}"/>
              </a:ext>
            </a:extLst>
          </p:cNvPr>
          <p:cNvSpPr/>
          <p:nvPr/>
        </p:nvSpPr>
        <p:spPr>
          <a:xfrm>
            <a:off x="3540062" y="3618809"/>
            <a:ext cx="2616923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Top 10 customers shows the order placed at higher value. But the retention rate of the customer is zero. The data has only one customer per unique id. </a:t>
            </a:r>
            <a:endParaRPr lang="en-US" sz="1400" dirty="0"/>
          </a:p>
        </p:txBody>
      </p:sp>
      <p:pic>
        <p:nvPicPr>
          <p:cNvPr id="9" name="Image 2" descr="preencoded.png">
            <a:extLst>
              <a:ext uri="{FF2B5EF4-FFF2-40B4-BE49-F238E27FC236}">
                <a16:creationId xmlns:a16="http://schemas.microsoft.com/office/drawing/2014/main" id="{4B8A948C-534C-3034-A209-BB0D5F164B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7691" y="1248370"/>
            <a:ext cx="1767840" cy="1767840"/>
          </a:xfrm>
          <a:prstGeom prst="rect">
            <a:avLst/>
          </a:prstGeom>
        </p:spPr>
      </p:pic>
      <p:sp>
        <p:nvSpPr>
          <p:cNvPr id="10" name="Text 5">
            <a:extLst>
              <a:ext uri="{FF2B5EF4-FFF2-40B4-BE49-F238E27FC236}">
                <a16:creationId xmlns:a16="http://schemas.microsoft.com/office/drawing/2014/main" id="{A7367E25-8F37-E942-D5E6-226790F66F6C}"/>
              </a:ext>
            </a:extLst>
          </p:cNvPr>
          <p:cNvSpPr/>
          <p:nvPr/>
        </p:nvSpPr>
        <p:spPr>
          <a:xfrm>
            <a:off x="6588181" y="3074670"/>
            <a:ext cx="2446091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Pricing Strongly Affects Demand</a:t>
            </a:r>
            <a:endParaRPr lang="en-US" dirty="0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75B86B58-A818-E2C3-C8CA-924FE8413789}"/>
              </a:ext>
            </a:extLst>
          </p:cNvPr>
          <p:cNvSpPr/>
          <p:nvPr/>
        </p:nvSpPr>
        <p:spPr>
          <a:xfrm>
            <a:off x="6588181" y="3729657"/>
            <a:ext cx="2616923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Lower-priced products drive volume while premium items serve profitable niches, informing optimal pricing and inventory strategies.</a:t>
            </a:r>
            <a:endParaRPr lang="en-US" sz="1400" dirty="0"/>
          </a:p>
        </p:txBody>
      </p:sp>
      <p:pic>
        <p:nvPicPr>
          <p:cNvPr id="12" name="Image 3" descr="preencoded.png">
            <a:extLst>
              <a:ext uri="{FF2B5EF4-FFF2-40B4-BE49-F238E27FC236}">
                <a16:creationId xmlns:a16="http://schemas.microsoft.com/office/drawing/2014/main" id="{FE312695-B086-7C79-DAE8-75388294E3D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46621" y="1092291"/>
            <a:ext cx="1767840" cy="1767840"/>
          </a:xfrm>
          <a:prstGeom prst="rect">
            <a:avLst/>
          </a:prstGeom>
        </p:spPr>
      </p:pic>
      <p:sp>
        <p:nvSpPr>
          <p:cNvPr id="13" name="Text 7">
            <a:extLst>
              <a:ext uri="{FF2B5EF4-FFF2-40B4-BE49-F238E27FC236}">
                <a16:creationId xmlns:a16="http://schemas.microsoft.com/office/drawing/2014/main" id="{6DA82CC1-9C6C-8D9C-482D-337ABE0840F6}"/>
              </a:ext>
            </a:extLst>
          </p:cNvPr>
          <p:cNvSpPr/>
          <p:nvPr/>
        </p:nvSpPr>
        <p:spPr>
          <a:xfrm>
            <a:off x="9501951" y="3082956"/>
            <a:ext cx="2046922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SQL + Python Complement</a:t>
            </a:r>
            <a:endParaRPr lang="en-US" dirty="0"/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2DD013D2-3473-13D2-5E07-464DD230E302}"/>
              </a:ext>
            </a:extLst>
          </p:cNvPr>
          <p:cNvSpPr/>
          <p:nvPr/>
        </p:nvSpPr>
        <p:spPr>
          <a:xfrm>
            <a:off x="9501951" y="3720776"/>
            <a:ext cx="2229801" cy="2707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Combining SQL's analytical power with Python's visualization capabilities creates a robust, scalable analytics framework for comprehensive insights.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4149936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DD9D630-12FB-A56D-B5F9-AA2EF8B4E796}"/>
              </a:ext>
            </a:extLst>
          </p:cNvPr>
          <p:cNvSpPr/>
          <p:nvPr/>
        </p:nvSpPr>
        <p:spPr>
          <a:xfrm>
            <a:off x="483865" y="446860"/>
            <a:ext cx="1473922" cy="358368"/>
          </a:xfrm>
          <a:prstGeom prst="roundRect">
            <a:avLst>
              <a:gd name="adj" fmla="val 2467"/>
            </a:avLst>
          </a:prstGeom>
          <a:solidFill>
            <a:srgbClr val="E4E6E7"/>
          </a:solidFill>
          <a:ln/>
        </p:spPr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CF10FEB7-3508-EB51-4AE5-2BC3CF0D3E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6261" y="550563"/>
            <a:ext cx="157829" cy="157829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D6A32CAA-9981-D6C9-A09C-3B4A66E2F640}"/>
              </a:ext>
            </a:extLst>
          </p:cNvPr>
          <p:cNvSpPr/>
          <p:nvPr/>
        </p:nvSpPr>
        <p:spPr>
          <a:xfrm>
            <a:off x="851053" y="508059"/>
            <a:ext cx="780389" cy="240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DELIVERABLES</a:t>
            </a:r>
            <a:endParaRPr lang="en-US" sz="125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9D880248-33A9-3277-0BA5-B93A653CF8F4}"/>
              </a:ext>
            </a:extLst>
          </p:cNvPr>
          <p:cNvSpPr/>
          <p:nvPr/>
        </p:nvSpPr>
        <p:spPr>
          <a:xfrm>
            <a:off x="483865" y="890963"/>
            <a:ext cx="4066049" cy="616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3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Project Outcomes</a:t>
            </a:r>
            <a:endParaRPr lang="en-US" sz="3200" dirty="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42067392-193B-45DF-F270-379845EC5AB7}"/>
              </a:ext>
            </a:extLst>
          </p:cNvPr>
          <p:cNvSpPr/>
          <p:nvPr/>
        </p:nvSpPr>
        <p:spPr>
          <a:xfrm>
            <a:off x="639313" y="1719467"/>
            <a:ext cx="5122378" cy="2139301"/>
          </a:xfrm>
          <a:prstGeom prst="roundRect">
            <a:avLst>
              <a:gd name="adj" fmla="val 355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  <a:effectLst>
            <a:outerShdw dist="1905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F36DE714-D32C-C643-47C3-59DF14768E79}"/>
              </a:ext>
            </a:extLst>
          </p:cNvPr>
          <p:cNvSpPr/>
          <p:nvPr/>
        </p:nvSpPr>
        <p:spPr>
          <a:xfrm>
            <a:off x="924158" y="1931160"/>
            <a:ext cx="487850" cy="592059"/>
          </a:xfrm>
          <a:prstGeom prst="roundRect">
            <a:avLst>
              <a:gd name="adj" fmla="val 14931436"/>
            </a:avLst>
          </a:prstGeom>
          <a:solidFill>
            <a:srgbClr val="151617"/>
          </a:solidFill>
          <a:ln/>
        </p:spPr>
      </p:sp>
      <p:pic>
        <p:nvPicPr>
          <p:cNvPr id="8" name="Image 1" descr="preencoded.png">
            <a:extLst>
              <a:ext uri="{FF2B5EF4-FFF2-40B4-BE49-F238E27FC236}">
                <a16:creationId xmlns:a16="http://schemas.microsoft.com/office/drawing/2014/main" id="{8E30DFE1-CFD4-D7C3-72FF-C39748324C7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9360" y="2099515"/>
            <a:ext cx="266387" cy="266387"/>
          </a:xfrm>
          <a:prstGeom prst="rect">
            <a:avLst/>
          </a:prstGeom>
        </p:spPr>
      </p:pic>
      <p:sp>
        <p:nvSpPr>
          <p:cNvPr id="9" name="Text 5">
            <a:extLst>
              <a:ext uri="{FF2B5EF4-FFF2-40B4-BE49-F238E27FC236}">
                <a16:creationId xmlns:a16="http://schemas.microsoft.com/office/drawing/2014/main" id="{11D7E80B-593C-9E2D-DBF6-740A599A6CE2}"/>
              </a:ext>
            </a:extLst>
          </p:cNvPr>
          <p:cNvSpPr/>
          <p:nvPr/>
        </p:nvSpPr>
        <p:spPr>
          <a:xfrm>
            <a:off x="1497440" y="2078201"/>
            <a:ext cx="3299794" cy="308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End-to-End Analytics Pipeline</a:t>
            </a:r>
            <a:endParaRPr lang="en-US" sz="2000" dirty="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2D5452F8-9973-DD2C-CBA8-674DC4D070DA}"/>
              </a:ext>
            </a:extLst>
          </p:cNvPr>
          <p:cNvSpPr/>
          <p:nvPr/>
        </p:nvSpPr>
        <p:spPr>
          <a:xfrm>
            <a:off x="851006" y="2589266"/>
            <a:ext cx="4785066" cy="900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Built a comprehensive data workflow from ingestion through visualization, demonstrating practical application of modern analytics best practices.</a:t>
            </a:r>
            <a:endParaRPr lang="en-US" sz="1600" dirty="0"/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E4954409-820A-CBFC-3D7D-E835321FD908}"/>
              </a:ext>
            </a:extLst>
          </p:cNvPr>
          <p:cNvSpPr/>
          <p:nvPr/>
        </p:nvSpPr>
        <p:spPr>
          <a:xfrm>
            <a:off x="6448502" y="1719467"/>
            <a:ext cx="5122473" cy="2139301"/>
          </a:xfrm>
          <a:prstGeom prst="roundRect">
            <a:avLst>
              <a:gd name="adj" fmla="val 355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  <a:effectLst>
            <a:outerShdw dist="1905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12" name="Shape 8">
            <a:extLst>
              <a:ext uri="{FF2B5EF4-FFF2-40B4-BE49-F238E27FC236}">
                <a16:creationId xmlns:a16="http://schemas.microsoft.com/office/drawing/2014/main" id="{D2D96F97-D5CF-39AA-5D83-9005338E0494}"/>
              </a:ext>
            </a:extLst>
          </p:cNvPr>
          <p:cNvSpPr/>
          <p:nvPr/>
        </p:nvSpPr>
        <p:spPr>
          <a:xfrm>
            <a:off x="6717818" y="1931160"/>
            <a:ext cx="487850" cy="592059"/>
          </a:xfrm>
          <a:prstGeom prst="roundRect">
            <a:avLst>
              <a:gd name="adj" fmla="val 14931436"/>
            </a:avLst>
          </a:prstGeom>
          <a:solidFill>
            <a:srgbClr val="151617"/>
          </a:solidFill>
          <a:ln/>
        </p:spPr>
      </p:sp>
      <p:pic>
        <p:nvPicPr>
          <p:cNvPr id="13" name="Image 2" descr="preencoded.png">
            <a:extLst>
              <a:ext uri="{FF2B5EF4-FFF2-40B4-BE49-F238E27FC236}">
                <a16:creationId xmlns:a16="http://schemas.microsoft.com/office/drawing/2014/main" id="{331C4A10-60BA-9746-790B-FDD7B4F495F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828550" y="2099515"/>
            <a:ext cx="266387" cy="266387"/>
          </a:xfrm>
          <a:prstGeom prst="rect">
            <a:avLst/>
          </a:prstGeom>
        </p:spPr>
      </p:pic>
      <p:sp>
        <p:nvSpPr>
          <p:cNvPr id="14" name="Text 9">
            <a:extLst>
              <a:ext uri="{FF2B5EF4-FFF2-40B4-BE49-F238E27FC236}">
                <a16:creationId xmlns:a16="http://schemas.microsoft.com/office/drawing/2014/main" id="{08401004-4133-DC98-322B-857CA27498B4}"/>
              </a:ext>
            </a:extLst>
          </p:cNvPr>
          <p:cNvSpPr/>
          <p:nvPr/>
        </p:nvSpPr>
        <p:spPr>
          <a:xfrm>
            <a:off x="7316400" y="2078201"/>
            <a:ext cx="2405766" cy="308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Scalable SQL Analysis</a:t>
            </a:r>
            <a:endParaRPr lang="en-US" sz="2000" dirty="0"/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68587095-2A99-EFC4-6177-F6351B716449}"/>
              </a:ext>
            </a:extLst>
          </p:cNvPr>
          <p:cNvSpPr/>
          <p:nvPr/>
        </p:nvSpPr>
        <p:spPr>
          <a:xfrm>
            <a:off x="6660195" y="2589266"/>
            <a:ext cx="4785161" cy="900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Developed efficient, reusable SQL queries that handle complex business logic and can scale with growing data volumes.</a:t>
            </a:r>
            <a:endParaRPr lang="en-US" sz="1600" dirty="0"/>
          </a:p>
        </p:txBody>
      </p:sp>
      <p:sp>
        <p:nvSpPr>
          <p:cNvPr id="16" name="Shape 11">
            <a:extLst>
              <a:ext uri="{FF2B5EF4-FFF2-40B4-BE49-F238E27FC236}">
                <a16:creationId xmlns:a16="http://schemas.microsoft.com/office/drawing/2014/main" id="{3F36DB37-B2D4-D5A7-CC81-6AF2E9539E8B}"/>
              </a:ext>
            </a:extLst>
          </p:cNvPr>
          <p:cNvSpPr/>
          <p:nvPr/>
        </p:nvSpPr>
        <p:spPr>
          <a:xfrm>
            <a:off x="639313" y="4069037"/>
            <a:ext cx="5122378" cy="2280903"/>
          </a:xfrm>
          <a:prstGeom prst="roundRect">
            <a:avLst>
              <a:gd name="adj" fmla="val 355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  <a:effectLst>
            <a:outerShdw dist="1905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17" name="Shape 12">
            <a:extLst>
              <a:ext uri="{FF2B5EF4-FFF2-40B4-BE49-F238E27FC236}">
                <a16:creationId xmlns:a16="http://schemas.microsoft.com/office/drawing/2014/main" id="{3247D97F-E236-2F30-2E70-64B389F1D548}"/>
              </a:ext>
            </a:extLst>
          </p:cNvPr>
          <p:cNvSpPr/>
          <p:nvPr/>
        </p:nvSpPr>
        <p:spPr>
          <a:xfrm>
            <a:off x="905870" y="4280730"/>
            <a:ext cx="487850" cy="592059"/>
          </a:xfrm>
          <a:prstGeom prst="roundRect">
            <a:avLst>
              <a:gd name="adj" fmla="val 14931436"/>
            </a:avLst>
          </a:prstGeom>
          <a:solidFill>
            <a:srgbClr val="151617"/>
          </a:solidFill>
          <a:ln/>
        </p:spPr>
      </p:sp>
      <p:pic>
        <p:nvPicPr>
          <p:cNvPr id="18" name="Image 3" descr="preencoded.png">
            <a:extLst>
              <a:ext uri="{FF2B5EF4-FFF2-40B4-BE49-F238E27FC236}">
                <a16:creationId xmlns:a16="http://schemas.microsoft.com/office/drawing/2014/main" id="{A400C18D-748D-99D6-DBE7-3D78BF212BD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19360" y="4449084"/>
            <a:ext cx="266387" cy="266387"/>
          </a:xfrm>
          <a:prstGeom prst="rect">
            <a:avLst/>
          </a:prstGeom>
        </p:spPr>
      </p:pic>
      <p:sp>
        <p:nvSpPr>
          <p:cNvPr id="19" name="Text 13">
            <a:extLst>
              <a:ext uri="{FF2B5EF4-FFF2-40B4-BE49-F238E27FC236}">
                <a16:creationId xmlns:a16="http://schemas.microsoft.com/office/drawing/2014/main" id="{77992EF1-C4F3-DE9D-C1D2-CFA08FFD07A8}"/>
              </a:ext>
            </a:extLst>
          </p:cNvPr>
          <p:cNvSpPr/>
          <p:nvPr/>
        </p:nvSpPr>
        <p:spPr>
          <a:xfrm>
            <a:off x="1507210" y="4420277"/>
            <a:ext cx="3544430" cy="656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Executive-Ready Visual </a:t>
            </a:r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Insights</a:t>
            </a:r>
            <a:endParaRPr lang="en-US" sz="2000" dirty="0"/>
          </a:p>
        </p:txBody>
      </p:sp>
      <p:sp>
        <p:nvSpPr>
          <p:cNvPr id="20" name="Text 14">
            <a:extLst>
              <a:ext uri="{FF2B5EF4-FFF2-40B4-BE49-F238E27FC236}">
                <a16:creationId xmlns:a16="http://schemas.microsoft.com/office/drawing/2014/main" id="{C5D1043F-EEAC-6F2E-8446-363ACD46DBE1}"/>
              </a:ext>
            </a:extLst>
          </p:cNvPr>
          <p:cNvSpPr/>
          <p:nvPr/>
        </p:nvSpPr>
        <p:spPr>
          <a:xfrm>
            <a:off x="851006" y="5094702"/>
            <a:ext cx="4785066" cy="900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Delivered executive-ready visual insights that translate technical analysis into clear, actionable business intelligence.</a:t>
            </a:r>
            <a:endParaRPr lang="en-US" sz="1600" dirty="0"/>
          </a:p>
        </p:txBody>
      </p:sp>
      <p:sp>
        <p:nvSpPr>
          <p:cNvPr id="21" name="Shape 15">
            <a:extLst>
              <a:ext uri="{FF2B5EF4-FFF2-40B4-BE49-F238E27FC236}">
                <a16:creationId xmlns:a16="http://schemas.microsoft.com/office/drawing/2014/main" id="{9DEC7C3F-40A8-FAE3-20CB-36C9CB2CC912}"/>
              </a:ext>
            </a:extLst>
          </p:cNvPr>
          <p:cNvSpPr/>
          <p:nvPr/>
        </p:nvSpPr>
        <p:spPr>
          <a:xfrm>
            <a:off x="6448502" y="4081907"/>
            <a:ext cx="5122473" cy="2268034"/>
          </a:xfrm>
          <a:prstGeom prst="roundRect">
            <a:avLst>
              <a:gd name="adj" fmla="val 355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  <a:effectLst>
            <a:outerShdw dist="1905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22" name="Shape 16">
            <a:extLst>
              <a:ext uri="{FF2B5EF4-FFF2-40B4-BE49-F238E27FC236}">
                <a16:creationId xmlns:a16="http://schemas.microsoft.com/office/drawing/2014/main" id="{CF081B4F-D94A-16C7-C2E3-18BD397589B9}"/>
              </a:ext>
            </a:extLst>
          </p:cNvPr>
          <p:cNvSpPr/>
          <p:nvPr/>
        </p:nvSpPr>
        <p:spPr>
          <a:xfrm>
            <a:off x="6715059" y="4280730"/>
            <a:ext cx="487850" cy="592059"/>
          </a:xfrm>
          <a:prstGeom prst="roundRect">
            <a:avLst>
              <a:gd name="adj" fmla="val 14931436"/>
            </a:avLst>
          </a:prstGeom>
          <a:solidFill>
            <a:srgbClr val="151617"/>
          </a:solidFill>
          <a:ln/>
        </p:spPr>
      </p:sp>
      <p:pic>
        <p:nvPicPr>
          <p:cNvPr id="23" name="Image 4" descr="preencoded.png">
            <a:extLst>
              <a:ext uri="{FF2B5EF4-FFF2-40B4-BE49-F238E27FC236}">
                <a16:creationId xmlns:a16="http://schemas.microsoft.com/office/drawing/2014/main" id="{089BD4F0-531C-A75D-3A01-BF8F8821EFD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828550" y="4449084"/>
            <a:ext cx="266387" cy="266387"/>
          </a:xfrm>
          <a:prstGeom prst="rect">
            <a:avLst/>
          </a:prstGeom>
        </p:spPr>
      </p:pic>
      <p:sp>
        <p:nvSpPr>
          <p:cNvPr id="24" name="Text 17">
            <a:extLst>
              <a:ext uri="{FF2B5EF4-FFF2-40B4-BE49-F238E27FC236}">
                <a16:creationId xmlns:a16="http://schemas.microsoft.com/office/drawing/2014/main" id="{05249235-11B3-0617-BE83-E97B0F430165}"/>
              </a:ext>
            </a:extLst>
          </p:cNvPr>
          <p:cNvSpPr/>
          <p:nvPr/>
        </p:nvSpPr>
        <p:spPr>
          <a:xfrm>
            <a:off x="7491269" y="4258922"/>
            <a:ext cx="3307795" cy="715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Well-Documented, </a:t>
            </a:r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Reproducible Project</a:t>
            </a:r>
            <a:endParaRPr lang="en-US" sz="2000" dirty="0"/>
          </a:p>
        </p:txBody>
      </p:sp>
      <p:sp>
        <p:nvSpPr>
          <p:cNvPr id="25" name="Text 18">
            <a:extLst>
              <a:ext uri="{FF2B5EF4-FFF2-40B4-BE49-F238E27FC236}">
                <a16:creationId xmlns:a16="http://schemas.microsoft.com/office/drawing/2014/main" id="{2A89A202-1354-0113-C38B-17F656F88BCE}"/>
              </a:ext>
            </a:extLst>
          </p:cNvPr>
          <p:cNvSpPr/>
          <p:nvPr/>
        </p:nvSpPr>
        <p:spPr>
          <a:xfrm>
            <a:off x="6660195" y="4989317"/>
            <a:ext cx="4785161" cy="1256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Maintained comprehensive documentation and version control, ensuring the analysis is fully reproducible, auditable, and extensible.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5573951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>
            <a:extLst>
              <a:ext uri="{FF2B5EF4-FFF2-40B4-BE49-F238E27FC236}">
                <a16:creationId xmlns:a16="http://schemas.microsoft.com/office/drawing/2014/main" id="{674FACB0-7CAA-6E2E-957F-E0A02F407D59}"/>
              </a:ext>
            </a:extLst>
          </p:cNvPr>
          <p:cNvSpPr/>
          <p:nvPr/>
        </p:nvSpPr>
        <p:spPr>
          <a:xfrm>
            <a:off x="4189476" y="2812189"/>
            <a:ext cx="3813048" cy="616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THANK YOU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5445923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202</TotalTime>
  <Words>1160</Words>
  <Application>Microsoft Office PowerPoint</Application>
  <PresentationFormat>Widescreen</PresentationFormat>
  <Paragraphs>172</Paragraphs>
  <Slides>18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Arial</vt:lpstr>
      <vt:lpstr>Calibri</vt:lpstr>
      <vt:lpstr>Calibri Light</vt:lpstr>
      <vt:lpstr>Inconsolata</vt:lpstr>
      <vt:lpstr>Montserrat Black</vt:lpstr>
      <vt:lpstr>Montserrat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Nivas Kumar</dc:creator>
  <cp:lastModifiedBy>Nivas Kumar</cp:lastModifiedBy>
  <cp:revision>1</cp:revision>
  <dcterms:created xsi:type="dcterms:W3CDTF">2026-02-04T17:06:52Z</dcterms:created>
  <dcterms:modified xsi:type="dcterms:W3CDTF">2026-02-04T20:28:57Z</dcterms:modified>
</cp:coreProperties>
</file>